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68" r:id="rId1"/>
  </p:sldMasterIdLst>
  <p:sldIdLst>
    <p:sldId id="326" r:id="rId2"/>
    <p:sldId id="327" r:id="rId3"/>
    <p:sldId id="312" r:id="rId4"/>
    <p:sldId id="351" r:id="rId5"/>
    <p:sldId id="313" r:id="rId6"/>
    <p:sldId id="315" r:id="rId7"/>
    <p:sldId id="316" r:id="rId8"/>
    <p:sldId id="317" r:id="rId9"/>
    <p:sldId id="324" r:id="rId10"/>
    <p:sldId id="328" r:id="rId11"/>
    <p:sldId id="329" r:id="rId12"/>
    <p:sldId id="330" r:id="rId13"/>
    <p:sldId id="331" r:id="rId14"/>
    <p:sldId id="334" r:id="rId15"/>
    <p:sldId id="332" r:id="rId16"/>
    <p:sldId id="333" r:id="rId17"/>
    <p:sldId id="335" r:id="rId18"/>
    <p:sldId id="336" r:id="rId19"/>
    <p:sldId id="337" r:id="rId20"/>
    <p:sldId id="338" r:id="rId21"/>
    <p:sldId id="339" r:id="rId22"/>
    <p:sldId id="340" r:id="rId23"/>
    <p:sldId id="344" r:id="rId24"/>
    <p:sldId id="345" r:id="rId25"/>
    <p:sldId id="350" r:id="rId26"/>
    <p:sldId id="352" r:id="rId27"/>
    <p:sldId id="353" r:id="rId28"/>
    <p:sldId id="354" r:id="rId29"/>
    <p:sldId id="355" r:id="rId30"/>
    <p:sldId id="356" r:id="rId31"/>
    <p:sldId id="347" r:id="rId32"/>
    <p:sldId id="348" r:id="rId33"/>
    <p:sldId id="349" r:id="rId34"/>
    <p:sldId id="343" r:id="rId35"/>
    <p:sldId id="346" r:id="rId36"/>
    <p:sldId id="342" r:id="rId37"/>
    <p:sldId id="357" r:id="rId38"/>
    <p:sldId id="358" r:id="rId39"/>
    <p:sldId id="365" r:id="rId40"/>
    <p:sldId id="359" r:id="rId41"/>
    <p:sldId id="368" r:id="rId42"/>
    <p:sldId id="367" r:id="rId43"/>
    <p:sldId id="361" r:id="rId44"/>
    <p:sldId id="369" r:id="rId45"/>
    <p:sldId id="371" r:id="rId46"/>
    <p:sldId id="370" r:id="rId47"/>
    <p:sldId id="362" r:id="rId48"/>
    <p:sldId id="372" r:id="rId49"/>
    <p:sldId id="373" r:id="rId50"/>
    <p:sldId id="374" r:id="rId51"/>
    <p:sldId id="363" r:id="rId52"/>
    <p:sldId id="364" r:id="rId53"/>
    <p:sldId id="376" r:id="rId54"/>
    <p:sldId id="377" r:id="rId55"/>
    <p:sldId id="375" r:id="rId56"/>
  </p:sldIdLst>
  <p:sldSz cx="12192000" cy="6858000"/>
  <p:notesSz cx="6858000" cy="9144000"/>
  <p:embeddedFontLst>
    <p:embeddedFont>
      <p:font typeface="나눔고딕 ExtraBold" panose="020D0904000000000000" pitchFamily="50" charset="-127"/>
      <p:bold r:id="rId57"/>
    </p:embeddedFont>
    <p:embeddedFont>
      <p:font typeface="나눔바른고딕" panose="020B0603020101020101" pitchFamily="50" charset="-127"/>
      <p:regular r:id="rId58"/>
      <p:bold r:id="rId59"/>
    </p:embeddedFont>
    <p:embeddedFont>
      <p:font typeface="나눔고딕코딩" panose="020D0009000000000000" pitchFamily="49" charset="-127"/>
      <p:regular r:id="rId60"/>
      <p:bold r:id="rId61"/>
    </p:embeddedFont>
    <p:embeddedFont>
      <p:font typeface="맑은 고딕" panose="020B0503020000020004" pitchFamily="50" charset="-127"/>
      <p:regular r:id="rId62"/>
      <p:bold r:id="rId6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3064">
          <p15:clr>
            <a:srgbClr val="A4A3A4"/>
          </p15:clr>
        </p15:guide>
        <p15:guide id="4" pos="710">
          <p15:clr>
            <a:srgbClr val="A4A3A4"/>
          </p15:clr>
        </p15:guide>
        <p15:guide id="5" pos="7016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86" y="102"/>
      </p:cViewPr>
      <p:guideLst>
        <p:guide orient="horz" pos="1230"/>
        <p:guide orient="horz" pos="2160"/>
        <p:guide orient="horz" pos="3064"/>
        <p:guide pos="710"/>
        <p:guide pos="701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7.fntdata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71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7396" y="992038"/>
            <a:ext cx="11097208" cy="572943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650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783771"/>
            <a:ext cx="10515600" cy="2659223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3442995"/>
            <a:ext cx="10515600" cy="2646655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2400">
                <a:solidFill>
                  <a:schemeClr val="tx1">
                    <a:tint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96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48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36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653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41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7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10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43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58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47396" y="200026"/>
            <a:ext cx="1109720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7396" y="885826"/>
            <a:ext cx="11097208" cy="5835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AF513-41D8-4FBD-889F-CCE17FCCA7D9}" type="datetimeFigureOut">
              <a:rPr lang="ko-KR" altLang="en-US" smtClean="0"/>
              <a:t>2017-09-13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B7632-C8BF-45E2-9E78-0EB25F772A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05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baekhorang.tistory.com/entry/%EC%9D%B4%EB%AF%B8%EC%A7%80-%EC%A0%80%EC%9E%A5%EC%86%8C-130221-%EC%BB%B4%ED%93%A8%ED%84%B0-%EC%95%84%EC%9D%B4%EC%BD%98%EC%BB%B4%ED%93%A8%ED%84%B0-%EA%B4%80%EB%A0%A8%EB%AA%A8%EB%8B%88%ED%84%B0%EB%A7%88%EC%9A%B0%EC%8A%A4-%EC%95%84%EC%9D%B4%EC%BD%98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baekhorang.tistory.com/entry/%EC%9D%B4%EB%AF%B8%EC%A7%80-%EC%A0%80%EC%9E%A5%EC%86%8C-130221-%EC%BB%B4%ED%93%A8%ED%84%B0-%EC%95%84%EC%9D%B4%EC%BD%98%EC%BB%B4%ED%93%A8%ED%84%B0-%EA%B4%80%EB%A0%A8%EB%AA%A8%EB%8B%88%ED%84%B0%EB%A7%88%EC%9A%B0%EC%8A%A4-%EC%95%84%EC%9D%B4%EC%BD%98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baekhorang.tistory.com/entry/%EC%9D%B4%EB%AF%B8%EC%A7%80-%EC%A0%80%EC%9E%A5%EC%86%8C-130221-%EC%BB%B4%ED%93%A8%ED%84%B0-%EC%95%84%EC%9D%B4%EC%BD%98%EC%BB%B4%ED%93%A8%ED%84%B0-%EA%B4%80%EB%A0%A8%EB%AA%A8%EB%8B%88%ED%84%B0%EB%A7%88%EC%9A%B0%EC%8A%A4-%EC%95%84%EC%9D%B4%EC%BD%98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baekhorang.tistory.com/entry/%EC%9D%B4%EB%AF%B8%EC%A7%80-%EC%A0%80%EC%9E%A5%EC%86%8C-130221-%EC%BB%B4%ED%93%A8%ED%84%B0-%EC%95%84%EC%9D%B4%EC%BD%98%EC%BB%B4%ED%93%A8%ED%84%B0-%EA%B4%80%EB%A0%A8%EB%AA%A8%EB%8B%88%ED%84%B0%EB%A7%88%EC%9A%B0%EC%8A%A4-%EC%95%84%EC%9D%B4%EC%BD%98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baekhorang.tistory.com/entry/%EC%9D%B4%EB%AF%B8%EC%A7%80-%EC%A0%80%EC%9E%A5%EC%86%8C-130221-%EC%BB%B4%ED%93%A8%ED%84%B0-%EC%95%84%EC%9D%B4%EC%BD%98%EC%BB%B4%ED%93%A8%ED%84%B0-%EA%B4%80%EB%A0%A8%EB%AA%A8%EB%8B%88%ED%84%B0%EB%A7%88%EC%9A%B0%EC%8A%A4-%EC%95%84%EC%9D%B4%EC%BD%98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1379132" y="4353750"/>
            <a:ext cx="10558409" cy="1896922"/>
          </a:xfrm>
        </p:spPr>
        <p:txBody>
          <a:bodyPr>
            <a:normAutofit fontScale="90000"/>
          </a:bodyPr>
          <a:lstStyle/>
          <a:p>
            <a:pPr algn="r"/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고급 자바 프로그래밍</a:t>
            </a:r>
            <a:br>
              <a:rPr lang="en-US" altLang="ko-KR" dirty="0"/>
            </a:br>
            <a:r>
              <a:rPr lang="en-US" altLang="ko-KR" sz="4000" dirty="0">
                <a:solidFill>
                  <a:schemeClr val="accent1">
                    <a:lumMod val="50000"/>
                  </a:schemeClr>
                </a:solidFill>
              </a:rPr>
              <a:t>: STS</a:t>
            </a:r>
            <a:r>
              <a:rPr lang="ko-KR" altLang="en-US" sz="4000" dirty="0">
                <a:solidFill>
                  <a:schemeClr val="accent1">
                    <a:lumMod val="50000"/>
                  </a:schemeClr>
                </a:solidFill>
              </a:rPr>
              <a:t>를 이용한 </a:t>
            </a:r>
            <a:r>
              <a:rPr lang="en-US" altLang="ko-KR" sz="4000" dirty="0">
                <a:solidFill>
                  <a:schemeClr val="accent1">
                    <a:lumMod val="50000"/>
                  </a:schemeClr>
                </a:solidFill>
              </a:rPr>
              <a:t>Spring </a:t>
            </a:r>
            <a:r>
              <a:rPr lang="ko-KR" altLang="en-US" sz="4000" dirty="0">
                <a:solidFill>
                  <a:schemeClr val="accent1">
                    <a:lumMod val="50000"/>
                  </a:schemeClr>
                </a:solidFill>
              </a:rPr>
              <a:t>프로그래밍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3498">
            <a:off x="1353159" y="850601"/>
            <a:ext cx="3766744" cy="524712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604088" y="4336370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comsi.java@gmail.com</a:t>
            </a:r>
            <a:endParaRPr lang="ko-KR" altLang="en-US" sz="2400" dirty="0"/>
          </a:p>
        </p:txBody>
      </p:sp>
      <p:sp>
        <p:nvSpPr>
          <p:cNvPr id="8" name="직사각형 7"/>
          <p:cNvSpPr/>
          <p:nvPr/>
        </p:nvSpPr>
        <p:spPr>
          <a:xfrm>
            <a:off x="10245563" y="390363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박 경 태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0350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내용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143756"/>
              </p:ext>
            </p:extLst>
          </p:nvPr>
        </p:nvGraphicFramePr>
        <p:xfrm>
          <a:off x="628650" y="1066800"/>
          <a:ext cx="10811509" cy="5140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6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순서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내       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4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1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Spring </a:t>
                      </a:r>
                      <a:r>
                        <a:rPr lang="en-US" altLang="ko-KR" sz="1800" dirty="0" err="1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IoC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를 이용한 비즈니스 컴포넌트 만들기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2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2</a:t>
                      </a:r>
                      <a:endParaRPr lang="ko-KR" altLang="en-US" sz="1800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1" dirty="0">
                          <a:solidFill>
                            <a:srgbClr val="FF0000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Spring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 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AOP(Aspect Oriented Programming)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를 이용한 공통 서비스 만들기</a:t>
                      </a:r>
                      <a:endParaRPr lang="en-US" altLang="ko-KR" sz="1800" b="1" dirty="0">
                        <a:solidFill>
                          <a:srgbClr val="FF0000"/>
                        </a:solidFill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Spring</a:t>
                      </a:r>
                      <a:r>
                        <a:rPr lang="ko-KR" altLang="en-US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 </a:t>
                      </a:r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DAO(Data Access Object)</a:t>
                      </a:r>
                      <a:r>
                        <a:rPr lang="ko-KR" altLang="en-US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를 이용한 데이터베이스 연동 및 트랜잭션 처리</a:t>
                      </a:r>
                      <a:endParaRPr lang="en-US" altLang="ko-KR" sz="1800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3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3</a:t>
                      </a:r>
                      <a:endParaRPr lang="ko-KR" altLang="en-US" sz="1800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Spring MVC</a:t>
                      </a:r>
                      <a:r>
                        <a:rPr lang="ko-KR" altLang="en-US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를 이용한 </a:t>
                      </a:r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MVC </a:t>
                      </a:r>
                      <a:r>
                        <a:rPr lang="ko-KR" altLang="en-US" sz="1800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아키텍쳐</a:t>
                      </a:r>
                      <a:r>
                        <a:rPr lang="ko-KR" altLang="en-US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 적용하기</a:t>
                      </a:r>
                      <a:endParaRPr lang="en-US" altLang="ko-KR" sz="1800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5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4</a:t>
                      </a:r>
                      <a:endParaRPr lang="ko-KR" altLang="en-US" sz="1800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Spring MVC</a:t>
                      </a:r>
                      <a:r>
                        <a:rPr lang="ko-KR" altLang="en-US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의 부가 기능 사용하기</a:t>
                      </a:r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(</a:t>
                      </a:r>
                      <a:r>
                        <a:rPr lang="ko-KR" altLang="en-US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파일 업로드</a:t>
                      </a:r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, </a:t>
                      </a:r>
                      <a:r>
                        <a:rPr lang="ko-KR" altLang="en-US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다국어</a:t>
                      </a:r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, </a:t>
                      </a:r>
                      <a:r>
                        <a:rPr lang="ko-KR" altLang="en-US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예외 처리 등</a:t>
                      </a:r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)</a:t>
                      </a:r>
                      <a:endParaRPr lang="en-US" altLang="ko-KR" sz="1800" b="0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65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5</a:t>
                      </a:r>
                      <a:endParaRPr lang="ko-KR" altLang="en-US" sz="1800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b="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Spring</a:t>
                      </a:r>
                      <a:r>
                        <a:rPr lang="ko-KR" altLang="en-US" sz="1800" b="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과 </a:t>
                      </a:r>
                      <a:r>
                        <a:rPr lang="en-US" altLang="ko-KR" sz="1800" b="0" dirty="0" err="1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MyBatis</a:t>
                      </a:r>
                      <a:r>
                        <a:rPr lang="en-US" altLang="ko-KR" sz="1800" b="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 </a:t>
                      </a:r>
                      <a:r>
                        <a:rPr lang="ko-KR" altLang="en-US" sz="1800" b="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연동하기</a:t>
                      </a:r>
                      <a:endParaRPr lang="en-US" altLang="ko-KR" sz="1800" b="0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b="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Spring</a:t>
                      </a:r>
                      <a:r>
                        <a:rPr lang="ko-KR" altLang="en-US" sz="1800" b="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과 </a:t>
                      </a:r>
                      <a:r>
                        <a:rPr lang="en-US" altLang="ko-KR" sz="1800" b="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JPA </a:t>
                      </a:r>
                      <a:r>
                        <a:rPr lang="ko-KR" altLang="en-US" sz="1800" b="0" dirty="0">
                          <a:latin typeface="나눔고딕코딩" panose="020D0009000000000000" pitchFamily="49" charset="-127"/>
                          <a:ea typeface="나눔고딕코딩" panose="020D0009000000000000" pitchFamily="49" charset="-127"/>
                        </a:rPr>
                        <a:t>연동하기</a:t>
                      </a:r>
                      <a:endParaRPr lang="en-US" altLang="ko-KR" sz="1800" b="0" dirty="0">
                        <a:latin typeface="나눔고딕코딩" panose="020D0009000000000000" pitchFamily="49" charset="-127"/>
                        <a:ea typeface="나눔고딕코딩" panose="020D0009000000000000" pitchFamily="49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00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285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AOP(Aspect Oriented Programming)</a:t>
            </a:r>
            <a:r>
              <a:rPr lang="ko-KR" altLang="en-US" dirty="0"/>
              <a:t>개요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99796" y="1144439"/>
            <a:ext cx="11097208" cy="4799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5"/>
                </a:solidFill>
              </a:rPr>
              <a:t>기존 </a:t>
            </a:r>
            <a:r>
              <a:rPr lang="en-US" altLang="ko-KR" b="1" dirty="0">
                <a:solidFill>
                  <a:schemeClr val="accent5"/>
                </a:solidFill>
              </a:rPr>
              <a:t>OOP</a:t>
            </a:r>
            <a:r>
              <a:rPr lang="ko-KR" altLang="en-US" b="1" dirty="0">
                <a:solidFill>
                  <a:schemeClr val="accent5"/>
                </a:solidFill>
              </a:rPr>
              <a:t>의 한계점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 어플리케이션을 개발할 때</a:t>
            </a:r>
            <a:r>
              <a:rPr lang="en-US" altLang="ko-KR" dirty="0"/>
              <a:t>, </a:t>
            </a:r>
            <a:r>
              <a:rPr lang="ko-KR" altLang="en-US" dirty="0" err="1"/>
              <a:t>메소드</a:t>
            </a:r>
            <a:r>
              <a:rPr lang="ko-KR" altLang="en-US" dirty="0"/>
              <a:t> 내에 </a:t>
            </a:r>
            <a:r>
              <a:rPr lang="ko-KR" altLang="en-US" b="1" dirty="0">
                <a:solidFill>
                  <a:schemeClr val="accent5"/>
                </a:solidFill>
              </a:rPr>
              <a:t>핵심적인 비즈니스 </a:t>
            </a:r>
            <a:r>
              <a:rPr lang="ko-KR" altLang="en-US" b="1" dirty="0" err="1">
                <a:solidFill>
                  <a:schemeClr val="accent5"/>
                </a:solidFill>
              </a:rPr>
              <a:t>로직</a:t>
            </a:r>
            <a:r>
              <a:rPr lang="en-US" altLang="ko-KR" b="1" dirty="0">
                <a:solidFill>
                  <a:schemeClr val="accent5"/>
                </a:solidFill>
              </a:rPr>
              <a:t>(</a:t>
            </a:r>
            <a:r>
              <a:rPr lang="ko-KR" altLang="en-US" b="1" dirty="0">
                <a:solidFill>
                  <a:schemeClr val="accent5"/>
                </a:solidFill>
              </a:rPr>
              <a:t>핵심관심사</a:t>
            </a:r>
            <a:r>
              <a:rPr lang="en-US" altLang="ko-KR" b="1" dirty="0">
                <a:solidFill>
                  <a:schemeClr val="accent5"/>
                </a:solidFill>
              </a:rPr>
              <a:t>)</a:t>
            </a:r>
            <a:r>
              <a:rPr lang="ko-KR" altLang="en-US" b="1" dirty="0">
                <a:solidFill>
                  <a:schemeClr val="accent5"/>
                </a:solidFill>
              </a:rPr>
              <a:t>을 담당하는 소스코드</a:t>
            </a:r>
            <a:r>
              <a:rPr lang="ko-KR" altLang="en-US" dirty="0"/>
              <a:t>와 </a:t>
            </a:r>
            <a:r>
              <a:rPr lang="en-US" altLang="ko-KR" b="1" dirty="0">
                <a:solidFill>
                  <a:schemeClr val="accent5"/>
                </a:solidFill>
              </a:rPr>
              <a:t>Logging, Exception </a:t>
            </a:r>
            <a:r>
              <a:rPr lang="ko-KR" altLang="en-US" b="1" dirty="0">
                <a:solidFill>
                  <a:schemeClr val="accent5"/>
                </a:solidFill>
              </a:rPr>
              <a:t>처럼 비즈니스 </a:t>
            </a:r>
            <a:r>
              <a:rPr lang="ko-KR" altLang="en-US" b="1" dirty="0" err="1">
                <a:solidFill>
                  <a:schemeClr val="accent5"/>
                </a:solidFill>
              </a:rPr>
              <a:t>로직과</a:t>
            </a:r>
            <a:r>
              <a:rPr lang="ko-KR" altLang="en-US" b="1" dirty="0">
                <a:solidFill>
                  <a:schemeClr val="accent5"/>
                </a:solidFill>
              </a:rPr>
              <a:t> 관계없는 코드</a:t>
            </a:r>
            <a:r>
              <a:rPr lang="en-US" altLang="ko-KR" b="1" dirty="0">
                <a:solidFill>
                  <a:schemeClr val="accent5"/>
                </a:solidFill>
              </a:rPr>
              <a:t>(</a:t>
            </a:r>
            <a:r>
              <a:rPr lang="ko-KR" altLang="en-US" b="1" dirty="0">
                <a:solidFill>
                  <a:schemeClr val="accent5"/>
                </a:solidFill>
              </a:rPr>
              <a:t>횡단관심사</a:t>
            </a:r>
            <a:r>
              <a:rPr lang="en-US" altLang="ko-KR" b="1" dirty="0">
                <a:solidFill>
                  <a:schemeClr val="accent5"/>
                </a:solidFill>
              </a:rPr>
              <a:t>)</a:t>
            </a:r>
            <a:r>
              <a:rPr lang="ko-KR" altLang="en-US" b="1" dirty="0">
                <a:solidFill>
                  <a:schemeClr val="accent5"/>
                </a:solidFill>
              </a:rPr>
              <a:t>를 같이 구현</a:t>
            </a:r>
            <a:r>
              <a:rPr lang="ko-KR" altLang="en-US" dirty="0"/>
              <a:t>할 수 밖에 없다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 Logging, Exception</a:t>
            </a:r>
            <a:r>
              <a:rPr lang="ko-KR" altLang="en-US" dirty="0"/>
              <a:t>을 처리하기 위한 소스코드는 어플리케이션 소스 코드의 전체 영역에 걸쳐 비슷한 패턴으로 중복해서 구현하는 것이 일반적이다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Logging, Exception </a:t>
            </a:r>
            <a:r>
              <a:rPr lang="ko-KR" altLang="en-US" dirty="0"/>
              <a:t>정책이 바뀔 경우 개발자가 예제 소스를 일일이 찾아서 수정해야 하는 번거로움을 감수해야 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435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7396" y="729673"/>
            <a:ext cx="11284386" cy="281786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3300" dirty="0"/>
              <a:t>OOP</a:t>
            </a:r>
            <a:r>
              <a:rPr lang="ko-KR" altLang="en-US" sz="3300" dirty="0"/>
              <a:t>의 한계점을 극복하기 위한 대안으로 등장한 것이 </a:t>
            </a:r>
            <a:r>
              <a:rPr lang="en-US" altLang="ko-KR" sz="3300" b="1" dirty="0">
                <a:solidFill>
                  <a:schemeClr val="accent5"/>
                </a:solidFill>
              </a:rPr>
              <a:t>AOP(Aspect Oriented Programming)</a:t>
            </a:r>
            <a:r>
              <a:rPr lang="ko-KR" altLang="en-US" sz="3300" dirty="0"/>
              <a:t>이다</a:t>
            </a:r>
            <a:r>
              <a:rPr lang="en-US" altLang="ko-KR" sz="33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OOP</a:t>
            </a:r>
            <a:r>
              <a:rPr lang="ko-KR" altLang="en-US" dirty="0"/>
              <a:t>는 </a:t>
            </a:r>
            <a:r>
              <a:rPr lang="en-US" altLang="ko-KR" dirty="0"/>
              <a:t>Logging, Exception</a:t>
            </a:r>
            <a:r>
              <a:rPr lang="ko-KR" altLang="en-US" dirty="0"/>
              <a:t>과 같은 </a:t>
            </a:r>
            <a:r>
              <a:rPr lang="en-US" altLang="ko-KR" dirty="0"/>
              <a:t>Infrastructure</a:t>
            </a:r>
            <a:r>
              <a:rPr lang="ko-KR" altLang="en-US" dirty="0"/>
              <a:t>를 해결하지 못함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AOP</a:t>
            </a:r>
            <a:r>
              <a:rPr lang="ko-KR" altLang="en-US" dirty="0"/>
              <a:t>를 </a:t>
            </a:r>
            <a:r>
              <a:rPr lang="en-US" altLang="ko-KR" dirty="0"/>
              <a:t>OOP</a:t>
            </a:r>
            <a:r>
              <a:rPr lang="ko-KR" altLang="en-US" dirty="0"/>
              <a:t>기반 하에서의 </a:t>
            </a:r>
            <a:r>
              <a:rPr lang="en-US" altLang="ko-KR" dirty="0"/>
              <a:t>OOP</a:t>
            </a:r>
            <a:r>
              <a:rPr lang="ko-KR" altLang="en-US" dirty="0"/>
              <a:t>문제점을 보완하는 역할을 함</a:t>
            </a:r>
            <a:r>
              <a:rPr lang="en-US" altLang="ko-KR" dirty="0"/>
              <a:t>.</a:t>
            </a:r>
            <a:endParaRPr lang="ko-KR" altLang="en-US" sz="32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664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OOP(Object-Oriented Programming)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2616584" y="1512022"/>
            <a:ext cx="1152128" cy="295232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5132024" y="1512022"/>
            <a:ext cx="1152128" cy="295232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7631917" y="1440014"/>
            <a:ext cx="1152128" cy="295232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2616584" y="2160094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2616584" y="2520134"/>
            <a:ext cx="1152128" cy="19193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2616584" y="3120229"/>
            <a:ext cx="1152128" cy="19193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2616584" y="3456238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5132024" y="2256063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5132024" y="2630785"/>
            <a:ext cx="1152128" cy="19193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3"/>
          <p:cNvSpPr/>
          <p:nvPr/>
        </p:nvSpPr>
        <p:spPr>
          <a:xfrm>
            <a:off x="5132024" y="2990825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4"/>
          <p:cNvSpPr/>
          <p:nvPr/>
        </p:nvSpPr>
        <p:spPr>
          <a:xfrm>
            <a:off x="7631917" y="2115745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5"/>
          <p:cNvSpPr/>
          <p:nvPr/>
        </p:nvSpPr>
        <p:spPr>
          <a:xfrm>
            <a:off x="7631917" y="2475785"/>
            <a:ext cx="1152128" cy="19193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6"/>
          <p:cNvSpPr/>
          <p:nvPr/>
        </p:nvSpPr>
        <p:spPr>
          <a:xfrm>
            <a:off x="7631917" y="3563261"/>
            <a:ext cx="1152128" cy="19193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7"/>
          <p:cNvSpPr/>
          <p:nvPr/>
        </p:nvSpPr>
        <p:spPr>
          <a:xfrm>
            <a:off x="7631917" y="3840309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8"/>
          <p:cNvSpPr/>
          <p:nvPr/>
        </p:nvSpPr>
        <p:spPr>
          <a:xfrm>
            <a:off x="7631917" y="3236461"/>
            <a:ext cx="1152128" cy="19193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364984" y="883002"/>
            <a:ext cx="1655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모듈</a:t>
            </a:r>
            <a:r>
              <a:rPr lang="en-US" altLang="ko-KR" dirty="0">
                <a:latin typeface="+mn-ea"/>
              </a:rPr>
              <a:t>A</a:t>
            </a:r>
          </a:p>
          <a:p>
            <a:pPr algn="ctr"/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insertBoard</a:t>
            </a:r>
            <a:r>
              <a:rPr lang="en-US" altLang="ko-KR" dirty="0">
                <a:latin typeface="+mn-ea"/>
              </a:rPr>
              <a:t>())</a:t>
            </a:r>
            <a:endParaRPr lang="ko-KR" altLang="en-US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75650" y="883002"/>
            <a:ext cx="1685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모듈</a:t>
            </a:r>
            <a:r>
              <a:rPr lang="en-US" altLang="ko-KR" dirty="0">
                <a:latin typeface="+mn-ea"/>
              </a:rPr>
              <a:t>B</a:t>
            </a:r>
          </a:p>
          <a:p>
            <a:pPr algn="ctr"/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selectBoard</a:t>
            </a:r>
            <a:r>
              <a:rPr lang="en-US" altLang="ko-KR" dirty="0">
                <a:latin typeface="+mn-ea"/>
              </a:rPr>
              <a:t>())</a:t>
            </a:r>
            <a:endParaRPr lang="ko-KR" altLang="en-US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29275" y="831823"/>
            <a:ext cx="1718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모듈</a:t>
            </a:r>
            <a:r>
              <a:rPr lang="en-US" altLang="ko-KR" dirty="0">
                <a:latin typeface="+mn-ea"/>
              </a:rPr>
              <a:t>C</a:t>
            </a:r>
          </a:p>
          <a:p>
            <a:pPr algn="ctr"/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deleteBoard</a:t>
            </a:r>
            <a:r>
              <a:rPr lang="en-US" altLang="ko-KR" dirty="0">
                <a:latin typeface="+mn-ea"/>
              </a:rPr>
              <a:t>())</a:t>
            </a:r>
            <a:endParaRPr lang="ko-KR" altLang="en-US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059226" y="5635989"/>
            <a:ext cx="3928410" cy="978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32"/>
          <p:cNvSpPr/>
          <p:nvPr/>
        </p:nvSpPr>
        <p:spPr>
          <a:xfrm>
            <a:off x="1278662" y="6225408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33"/>
          <p:cNvSpPr/>
          <p:nvPr/>
        </p:nvSpPr>
        <p:spPr>
          <a:xfrm>
            <a:off x="1278662" y="5882729"/>
            <a:ext cx="1152128" cy="19193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2510019" y="5809421"/>
            <a:ext cx="2372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주 기능 구현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핵심기능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9386" y="6165467"/>
            <a:ext cx="2803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로그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횡단기능</a:t>
            </a:r>
            <a:r>
              <a:rPr lang="en-US" altLang="ko-KR" sz="1600" dirty="0">
                <a:latin typeface="+mn-ea"/>
              </a:rPr>
              <a:t>)</a:t>
            </a:r>
            <a:endParaRPr lang="ko-KR" altLang="en-US" sz="16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63795" y="4772397"/>
            <a:ext cx="272382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/>
              <a:t>핵심 기능과 </a:t>
            </a:r>
            <a:r>
              <a:rPr lang="ko-KR" altLang="en-US" dirty="0"/>
              <a:t>로그가 혼합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6636" y="5229470"/>
            <a:ext cx="205481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+mn-ea"/>
              </a:rPr>
              <a:t>재사용성</a:t>
            </a:r>
            <a:r>
              <a:rPr lang="ko-KR" altLang="en-US" b="1" dirty="0">
                <a:latin typeface="+mn-ea"/>
              </a:rPr>
              <a:t> 저하</a:t>
            </a:r>
          </a:p>
        </p:txBody>
      </p:sp>
      <p:sp>
        <p:nvSpPr>
          <p:cNvPr id="29" name="오른쪽 화살표 45"/>
          <p:cNvSpPr/>
          <p:nvPr/>
        </p:nvSpPr>
        <p:spPr>
          <a:xfrm>
            <a:off x="4875650" y="4829951"/>
            <a:ext cx="288032" cy="28500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5302609" y="4745621"/>
            <a:ext cx="20548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b="1" dirty="0">
                <a:latin typeface="+mn-ea"/>
              </a:rPr>
              <a:t>코드 중복 상승</a:t>
            </a:r>
            <a:endParaRPr lang="en-US" altLang="ko-KR" b="1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7756636" y="4745358"/>
            <a:ext cx="20548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b="1" dirty="0">
                <a:latin typeface="+mn-ea"/>
              </a:rPr>
              <a:t>생산성 저하</a:t>
            </a:r>
            <a:endParaRPr lang="en-US" altLang="ko-KR" b="1" dirty="0"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308706" y="5229470"/>
            <a:ext cx="20548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b="1" dirty="0">
                <a:latin typeface="+mn-ea"/>
              </a:rPr>
              <a:t>유지보수성 저하</a:t>
            </a:r>
            <a:endParaRPr lang="en-US" altLang="ko-KR" b="1" dirty="0">
              <a:latin typeface="+mn-ea"/>
            </a:endParaRPr>
          </a:p>
        </p:txBody>
      </p:sp>
      <p:sp>
        <p:nvSpPr>
          <p:cNvPr id="33" name="모서리가 둥근 직사각형 50"/>
          <p:cNvSpPr/>
          <p:nvPr/>
        </p:nvSpPr>
        <p:spPr>
          <a:xfrm>
            <a:off x="5132024" y="3302943"/>
            <a:ext cx="1152128" cy="19193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모서리가 둥근 직사각형 51"/>
          <p:cNvSpPr/>
          <p:nvPr/>
        </p:nvSpPr>
        <p:spPr>
          <a:xfrm>
            <a:off x="5132024" y="3566889"/>
            <a:ext cx="1152128" cy="19193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52"/>
          <p:cNvSpPr/>
          <p:nvPr/>
        </p:nvSpPr>
        <p:spPr>
          <a:xfrm>
            <a:off x="5127534" y="3879007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4"/>
          <p:cNvSpPr/>
          <p:nvPr/>
        </p:nvSpPr>
        <p:spPr>
          <a:xfrm>
            <a:off x="2616583" y="2817548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5"/>
          <p:cNvSpPr/>
          <p:nvPr/>
        </p:nvSpPr>
        <p:spPr>
          <a:xfrm>
            <a:off x="7631917" y="2884003"/>
            <a:ext cx="1152128" cy="1919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93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AOP(Aspect Oriented Programming)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5"/>
                </a:solidFill>
              </a:rPr>
              <a:t>어플리케이션을 다양한 관점으로 분해하여 객체지향에서 추구하는 모듈화를 더 잘 지원하도록 하는 기법</a:t>
            </a:r>
            <a:endParaRPr lang="en-US" altLang="ko-KR" sz="2400" b="1" dirty="0">
              <a:solidFill>
                <a:schemeClr val="accent5"/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5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가장 기초가 되는 개념은‘</a:t>
            </a:r>
            <a:r>
              <a:rPr lang="ko-KR" altLang="en-US" sz="2400" b="1" dirty="0">
                <a:solidFill>
                  <a:schemeClr val="accent5"/>
                </a:solidFill>
              </a:rPr>
              <a:t>관심의 분리</a:t>
            </a:r>
            <a:r>
              <a:rPr lang="en-US" altLang="ko-KR" sz="2400" b="1" dirty="0">
                <a:solidFill>
                  <a:schemeClr val="accent5"/>
                </a:solidFill>
              </a:rPr>
              <a:t>(Separation of Concerns)</a:t>
            </a:r>
            <a:r>
              <a:rPr lang="en-US" altLang="ko-KR" sz="2400" dirty="0"/>
              <a:t>’</a:t>
            </a:r>
            <a:r>
              <a:rPr lang="ko-KR" altLang="en-US" sz="2400" dirty="0"/>
              <a:t>이고</a:t>
            </a:r>
            <a:r>
              <a:rPr lang="en-US" altLang="ko-KR" sz="2400" dirty="0"/>
              <a:t>, </a:t>
            </a:r>
            <a:r>
              <a:rPr lang="ko-KR" altLang="en-US" sz="2400" b="1" dirty="0">
                <a:solidFill>
                  <a:srgbClr val="FF0000"/>
                </a:solidFill>
              </a:rPr>
              <a:t>핵심 관심사</a:t>
            </a:r>
            <a:r>
              <a:rPr lang="ko-KR" altLang="en-US" sz="2400" dirty="0"/>
              <a:t>에 대한 관점과 </a:t>
            </a:r>
            <a:r>
              <a:rPr lang="ko-KR" altLang="en-US" sz="2400" b="1" dirty="0">
                <a:solidFill>
                  <a:srgbClr val="FF0000"/>
                </a:solidFill>
              </a:rPr>
              <a:t>횡단 관심사</a:t>
            </a:r>
            <a:r>
              <a:rPr lang="ko-KR" altLang="en-US" sz="2400" dirty="0"/>
              <a:t>에 대한 관점으로 나뉜다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핵심 관심사</a:t>
            </a:r>
            <a:r>
              <a:rPr lang="en-US" altLang="ko-KR" sz="2000" dirty="0"/>
              <a:t>(core concerns): </a:t>
            </a:r>
            <a:r>
              <a:rPr lang="ko-KR" altLang="en-US" sz="2000" dirty="0"/>
              <a:t>각 모듈에서 수행해야 하는 기본적이고 대표적인 업무 기능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횡단 관심사</a:t>
            </a:r>
            <a:r>
              <a:rPr lang="en-US" altLang="ko-KR" sz="2000" dirty="0"/>
              <a:t>(cross-cutting concerns): </a:t>
            </a:r>
            <a:r>
              <a:rPr lang="ko-KR" altLang="en-US" sz="2000" dirty="0"/>
              <a:t>여러 개의 모듈에 걸치는 시스템의 부가적인 업무로 로깅</a:t>
            </a:r>
            <a:r>
              <a:rPr lang="en-US" altLang="ko-KR" sz="2000" dirty="0"/>
              <a:t>, </a:t>
            </a:r>
            <a:r>
              <a:rPr lang="ko-KR" altLang="en-US" sz="2000" dirty="0"/>
              <a:t>예외처리</a:t>
            </a:r>
            <a:r>
              <a:rPr lang="en-US" altLang="ko-KR" sz="2000" dirty="0"/>
              <a:t>, </a:t>
            </a:r>
            <a:r>
              <a:rPr lang="ko-KR" altLang="en-US" sz="2000" dirty="0"/>
              <a:t>성능 관리 등의 기능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현재 주류인 객체 지향을 </a:t>
            </a:r>
            <a:r>
              <a:rPr lang="ko-KR" altLang="en-US" sz="2400" b="1" dirty="0">
                <a:solidFill>
                  <a:srgbClr val="FF0000"/>
                </a:solidFill>
              </a:rPr>
              <a:t>대신하는 것이 아니라 보완</a:t>
            </a:r>
            <a:r>
              <a:rPr lang="ko-KR" altLang="en-US" sz="2400" dirty="0"/>
              <a:t>하는 새로운 패러다임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191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7396" y="211749"/>
            <a:ext cx="11097208" cy="685800"/>
          </a:xfrm>
        </p:spPr>
        <p:txBody>
          <a:bodyPr/>
          <a:lstStyle/>
          <a:p>
            <a:r>
              <a:rPr lang="en-US" altLang="ko-KR" dirty="0"/>
              <a:t>AOP(Aspect Oriented Programming)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OOP</a:t>
            </a:r>
            <a:r>
              <a:rPr lang="ko-KR" altLang="en-US" dirty="0"/>
              <a:t>의 한계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 AOP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947461" y="3382347"/>
            <a:ext cx="10320417" cy="11521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로깅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예외 등의 횡단 관심사를 직접 호출하는 것이 아니라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Aspect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활용해 컴파일 시나 런타임 시에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weaving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과정을 거쳐 하나의 시스템으로 조립하는 것이 가능하게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됨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47461" y="1510139"/>
            <a:ext cx="10332269" cy="11521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>
              <a:lnSpc>
                <a:spcPct val="150000"/>
              </a:lnSpc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 지향 프로그램은 추상화나 캡슐화를 통해 관심사에 대해 모듈화를 수행하고 사용하므로 횡단 관심사에 해당하는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로깅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예외 모듈 등을 핵심 관심사에 직접 포함하게 됨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29779" y="4797355"/>
            <a:ext cx="10332269" cy="12208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Weaving?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핵심관심사와 횡단관심사를 컴파일이나 런타임 시에 합성하여 주는 프로세스로 핵심관심사에서 횡단관심사를 자동으로  삽입하여  호출 실행 시켜줌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988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스프링</a:t>
            </a:r>
            <a:r>
              <a:rPr lang="en-US" altLang="ko-KR" dirty="0"/>
              <a:t>(Spring)</a:t>
            </a:r>
            <a:r>
              <a:rPr lang="ko-KR" altLang="en-US" dirty="0"/>
              <a:t>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988859" y="1379307"/>
            <a:ext cx="2265219" cy="12188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+mn-ea"/>
              </a:rPr>
              <a:t>객체지향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(OOP)</a:t>
            </a:r>
            <a:endParaRPr lang="ko-KR" altLang="en-US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799409" y="1379307"/>
            <a:ext cx="2265219" cy="12188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+mn-ea"/>
              </a:rPr>
              <a:t>의존관계주입</a:t>
            </a:r>
            <a:endParaRPr lang="en-US" altLang="ko-KR" dirty="0">
              <a:latin typeface="+mn-ea"/>
            </a:endParaRPr>
          </a:p>
          <a:p>
            <a:pPr algn="ctr"/>
            <a:r>
              <a:rPr lang="en-US" altLang="ko-KR" dirty="0">
                <a:latin typeface="+mn-ea"/>
              </a:rPr>
              <a:t>(DI)</a:t>
            </a:r>
            <a:endParaRPr lang="ko-KR" altLang="en-US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609959" y="1379307"/>
            <a:ext cx="2642757" cy="12188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+mn-ea"/>
              </a:rPr>
              <a:t>관점지향프로그래밍</a:t>
            </a:r>
            <a:endParaRPr lang="en-US" altLang="ko-KR" dirty="0">
              <a:latin typeface="+mn-ea"/>
            </a:endParaRPr>
          </a:p>
          <a:p>
            <a:pPr algn="ctr"/>
            <a:r>
              <a:rPr lang="en-US" altLang="ko-KR" dirty="0">
                <a:latin typeface="+mn-ea"/>
              </a:rPr>
              <a:t>(AOP)</a:t>
            </a:r>
            <a:endParaRPr lang="ko-KR" altLang="en-US" dirty="0">
              <a:latin typeface="+mn-ea"/>
            </a:endParaRPr>
          </a:p>
        </p:txBody>
      </p:sp>
      <p:sp>
        <p:nvSpPr>
          <p:cNvPr id="7" name="모서리가 둥근 직사각형 9"/>
          <p:cNvSpPr/>
          <p:nvPr/>
        </p:nvSpPr>
        <p:spPr>
          <a:xfrm>
            <a:off x="952722" y="3323523"/>
            <a:ext cx="10299995" cy="79208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객체 지향보다 독립성을 높여 재사용성과 </a:t>
            </a:r>
            <a:r>
              <a:rPr lang="ko-KR" altLang="en-US" b="1" dirty="0" err="1">
                <a:solidFill>
                  <a:schemeClr val="bg1"/>
                </a:solidFill>
              </a:rPr>
              <a:t>보전성</a:t>
            </a:r>
            <a:r>
              <a:rPr lang="ko-KR" altLang="en-US" b="1" dirty="0">
                <a:solidFill>
                  <a:schemeClr val="bg1"/>
                </a:solidFill>
              </a:rPr>
              <a:t> 향상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22986" y="1611185"/>
            <a:ext cx="653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3537" y="1665569"/>
            <a:ext cx="653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아래쪽 화살표 12"/>
          <p:cNvSpPr/>
          <p:nvPr/>
        </p:nvSpPr>
        <p:spPr>
          <a:xfrm>
            <a:off x="5124803" y="2899000"/>
            <a:ext cx="1614430" cy="38529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91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AOP </a:t>
            </a:r>
            <a:r>
              <a:rPr lang="ko-KR" altLang="en-US" dirty="0"/>
              <a:t>구현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비즈니스 메소드가 실행되기 직전에 공통으로 처리할 로직을 </a:t>
            </a:r>
            <a:r>
              <a:rPr lang="en-US" altLang="ko-KR" dirty="0" err="1"/>
              <a:t>LogAdvice</a:t>
            </a:r>
            <a:r>
              <a:rPr lang="ko-KR" altLang="en-US" dirty="0"/>
              <a:t>클래스에 </a:t>
            </a:r>
            <a:r>
              <a:rPr lang="en-US" altLang="ko-KR" dirty="0" err="1"/>
              <a:t>printLog</a:t>
            </a:r>
            <a:r>
              <a:rPr lang="en-US" altLang="ko-KR" dirty="0"/>
              <a:t>()</a:t>
            </a:r>
            <a:r>
              <a:rPr lang="ko-KR" altLang="en-US" dirty="0"/>
              <a:t>메소드로 구현</a:t>
            </a:r>
            <a:endParaRPr lang="en-US" altLang="ko-KR" dirty="0"/>
          </a:p>
          <a:p>
            <a:r>
              <a:rPr lang="en-US" altLang="ko-KR" dirty="0" err="1"/>
              <a:t>LogAdvice</a:t>
            </a:r>
            <a:r>
              <a:rPr lang="ko-KR" altLang="en-US" dirty="0"/>
              <a:t>클래스의 </a:t>
            </a:r>
            <a:r>
              <a:rPr lang="en-US" altLang="ko-KR" dirty="0" err="1"/>
              <a:t>printLog</a:t>
            </a:r>
            <a:r>
              <a:rPr lang="en-US" altLang="ko-KR" dirty="0"/>
              <a:t>() </a:t>
            </a:r>
            <a:r>
              <a:rPr lang="ko-KR" altLang="en-US" dirty="0"/>
              <a:t>메소드를 </a:t>
            </a:r>
            <a:r>
              <a:rPr lang="en-US" altLang="ko-KR" dirty="0" err="1"/>
              <a:t>BoardService</a:t>
            </a:r>
            <a:r>
              <a:rPr lang="en-US" altLang="ko-KR" dirty="0"/>
              <a:t> </a:t>
            </a:r>
            <a:r>
              <a:rPr lang="ko-KR" altLang="en-US" dirty="0"/>
              <a:t>컴포넌트에서 사용할 수 있도록 </a:t>
            </a:r>
            <a:r>
              <a:rPr lang="en-US" altLang="ko-KR" dirty="0" err="1"/>
              <a:t>BoardServiceImpl</a:t>
            </a:r>
            <a:r>
              <a:rPr lang="en-US" altLang="ko-KR" dirty="0"/>
              <a:t> </a:t>
            </a:r>
            <a:r>
              <a:rPr lang="ko-KR" altLang="en-US" dirty="0"/>
              <a:t>클래스를 수정</a:t>
            </a:r>
            <a:endParaRPr lang="en-US" altLang="ko-KR" dirty="0"/>
          </a:p>
          <a:p>
            <a:pPr lvl="1"/>
            <a:r>
              <a:rPr lang="en-US" altLang="ko-KR" dirty="0"/>
              <a:t>- </a:t>
            </a:r>
            <a:r>
              <a:rPr lang="ko-KR" altLang="en-US" dirty="0"/>
              <a:t>각 </a:t>
            </a:r>
            <a:r>
              <a:rPr lang="ko-KR" altLang="en-US" dirty="0" err="1"/>
              <a:t>매소드에서</a:t>
            </a:r>
            <a:r>
              <a:rPr lang="ko-KR" altLang="en-US" dirty="0"/>
              <a:t> 비즈니스 로직을 수행하기 전에 </a:t>
            </a:r>
            <a:r>
              <a:rPr lang="en-US" altLang="ko-KR" dirty="0" err="1"/>
              <a:t>printLog</a:t>
            </a:r>
            <a:r>
              <a:rPr lang="en-US" altLang="ko-KR" dirty="0"/>
              <a:t>() </a:t>
            </a:r>
            <a:r>
              <a:rPr lang="ko-KR" altLang="en-US" dirty="0"/>
              <a:t>메소드를 호출</a:t>
            </a:r>
          </a:p>
        </p:txBody>
      </p:sp>
    </p:spTree>
    <p:extLst>
      <p:ext uri="{BB962C8B-B14F-4D97-AF65-F5344CB8AC3E}">
        <p14:creationId xmlns:p14="http://schemas.microsoft.com/office/powerpoint/2010/main" val="189212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D1080A6-C1D2-44B2-9EC0-F682818B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LogAdvice</a:t>
            </a:r>
            <a:r>
              <a:rPr lang="ko-KR" altLang="en-US" dirty="0"/>
              <a:t> 클래스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F1787AE-4652-4D01-A57D-77E47E1C4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비즈니스 로직 수행전에 로그 출력하는 클래스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FF5DBE-7802-4FBF-9784-219A8D01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69" y="1482146"/>
            <a:ext cx="8194886" cy="252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78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48785-F1F2-42E6-8C59-07C43E37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BoardServiceImpl.java </a:t>
            </a:r>
            <a:r>
              <a:rPr lang="ko-KR" altLang="en-US" dirty="0"/>
              <a:t>클래스 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E2C3F81-904D-4170-9D4B-A01FA19DB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952" y="885826"/>
            <a:ext cx="9193100" cy="5729287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8EA65DC-2FC6-41F7-AC97-426FE0F27A81}"/>
              </a:ext>
            </a:extLst>
          </p:cNvPr>
          <p:cNvCxnSpPr/>
          <p:nvPr/>
        </p:nvCxnSpPr>
        <p:spPr>
          <a:xfrm>
            <a:off x="3105509" y="3735238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0ED432-2871-4B52-945A-E8D78B2A83F1}"/>
              </a:ext>
            </a:extLst>
          </p:cNvPr>
          <p:cNvSpPr txBox="1"/>
          <p:nvPr/>
        </p:nvSpPr>
        <p:spPr>
          <a:xfrm flipH="1">
            <a:off x="4554747" y="3550572"/>
            <a:ext cx="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C592BAF-330A-46DD-B9F2-9766591EE6A4}"/>
              </a:ext>
            </a:extLst>
          </p:cNvPr>
          <p:cNvCxnSpPr/>
          <p:nvPr/>
        </p:nvCxnSpPr>
        <p:spPr>
          <a:xfrm>
            <a:off x="3548348" y="4308894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D96FEF-AF7F-41EA-89C2-A4D673169155}"/>
              </a:ext>
            </a:extLst>
          </p:cNvPr>
          <p:cNvSpPr txBox="1"/>
          <p:nvPr/>
        </p:nvSpPr>
        <p:spPr>
          <a:xfrm flipH="1">
            <a:off x="5092500" y="4106174"/>
            <a:ext cx="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2ACEB8E7-CBCB-4273-B856-792678704160}"/>
              </a:ext>
            </a:extLst>
          </p:cNvPr>
          <p:cNvSpPr/>
          <p:nvPr/>
        </p:nvSpPr>
        <p:spPr>
          <a:xfrm>
            <a:off x="3450566" y="4106174"/>
            <a:ext cx="97782" cy="414068"/>
          </a:xfrm>
          <a:prstGeom prst="righ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2FBCAE3-98E0-436B-BF4B-5899270B4621}"/>
              </a:ext>
            </a:extLst>
          </p:cNvPr>
          <p:cNvCxnSpPr/>
          <p:nvPr/>
        </p:nvCxnSpPr>
        <p:spPr>
          <a:xfrm>
            <a:off x="3027871" y="5161306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C6629F-4C92-46E0-AA3E-CC532DB39885}"/>
              </a:ext>
            </a:extLst>
          </p:cNvPr>
          <p:cNvSpPr txBox="1"/>
          <p:nvPr/>
        </p:nvSpPr>
        <p:spPr>
          <a:xfrm flipH="1">
            <a:off x="4477109" y="4976640"/>
            <a:ext cx="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06228D8-5D6A-4FE0-9FEA-B03D062D1BA0}"/>
              </a:ext>
            </a:extLst>
          </p:cNvPr>
          <p:cNvCxnSpPr/>
          <p:nvPr/>
        </p:nvCxnSpPr>
        <p:spPr>
          <a:xfrm>
            <a:off x="3105509" y="6081125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65BFF80-B9DB-4B01-8B32-C51A97C42C20}"/>
              </a:ext>
            </a:extLst>
          </p:cNvPr>
          <p:cNvSpPr txBox="1"/>
          <p:nvPr/>
        </p:nvSpPr>
        <p:spPr>
          <a:xfrm flipH="1">
            <a:off x="4554747" y="5896459"/>
            <a:ext cx="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852034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29EAB5CD-36B3-457C-9433-49CC2E1BB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499448"/>
            <a:ext cx="9686925" cy="3419475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140CCB6-56C0-457E-896F-A7EC9FF627B2}"/>
              </a:ext>
            </a:extLst>
          </p:cNvPr>
          <p:cNvCxnSpPr/>
          <p:nvPr/>
        </p:nvCxnSpPr>
        <p:spPr>
          <a:xfrm>
            <a:off x="3226279" y="922529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1A478A0-E626-4C07-8E02-6EF94B92EB0A}"/>
              </a:ext>
            </a:extLst>
          </p:cNvPr>
          <p:cNvSpPr txBox="1"/>
          <p:nvPr/>
        </p:nvSpPr>
        <p:spPr>
          <a:xfrm flipH="1">
            <a:off x="4675517" y="737863"/>
            <a:ext cx="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02669DD-1C6D-4070-9A63-DA430C4D915E}"/>
              </a:ext>
            </a:extLst>
          </p:cNvPr>
          <p:cNvCxnSpPr/>
          <p:nvPr/>
        </p:nvCxnSpPr>
        <p:spPr>
          <a:xfrm>
            <a:off x="3226279" y="1974952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4BA87F-BB2A-46F5-8645-0B35392853A6}"/>
              </a:ext>
            </a:extLst>
          </p:cNvPr>
          <p:cNvSpPr txBox="1"/>
          <p:nvPr/>
        </p:nvSpPr>
        <p:spPr>
          <a:xfrm flipH="1">
            <a:off x="4675517" y="1790286"/>
            <a:ext cx="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9B15F5B-CF4D-4ABA-BCD7-6092BE16B722}"/>
              </a:ext>
            </a:extLst>
          </p:cNvPr>
          <p:cNvCxnSpPr/>
          <p:nvPr/>
        </p:nvCxnSpPr>
        <p:spPr>
          <a:xfrm>
            <a:off x="3312543" y="3027375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E810A7-E396-43AF-B3B1-55E25267AB88}"/>
              </a:ext>
            </a:extLst>
          </p:cNvPr>
          <p:cNvSpPr txBox="1"/>
          <p:nvPr/>
        </p:nvSpPr>
        <p:spPr>
          <a:xfrm flipH="1">
            <a:off x="4761781" y="2842709"/>
            <a:ext cx="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EDEEB62-1593-49B6-A33F-34B410BD5733}"/>
              </a:ext>
            </a:extLst>
          </p:cNvPr>
          <p:cNvSpPr txBox="1">
            <a:spLocks/>
          </p:cNvSpPr>
          <p:nvPr/>
        </p:nvSpPr>
        <p:spPr>
          <a:xfrm>
            <a:off x="547396" y="4264463"/>
            <a:ext cx="11097208" cy="2457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LogAdvice</a:t>
            </a:r>
            <a:r>
              <a:rPr lang="en-US" altLang="ko-KR" dirty="0"/>
              <a:t> </a:t>
            </a:r>
            <a:r>
              <a:rPr lang="ko-KR" altLang="en-US" dirty="0"/>
              <a:t>객체가 소스에 강하게 결합되어 있음</a:t>
            </a:r>
            <a:endParaRPr lang="en-US" altLang="ko-KR" dirty="0"/>
          </a:p>
          <a:p>
            <a:pPr lvl="1"/>
            <a:r>
              <a:rPr lang="en-US" altLang="ko-KR" dirty="0" err="1"/>
              <a:t>LogAdvice</a:t>
            </a:r>
            <a:r>
              <a:rPr lang="ko-KR" altLang="en-US" dirty="0"/>
              <a:t>를 다른 클래스로 변경하거나 </a:t>
            </a:r>
            <a:r>
              <a:rPr lang="en-US" altLang="ko-KR" dirty="0" err="1"/>
              <a:t>printLog</a:t>
            </a:r>
            <a:r>
              <a:rPr lang="en-US" altLang="ko-KR" dirty="0"/>
              <a:t>()</a:t>
            </a:r>
            <a:r>
              <a:rPr lang="ko-KR" altLang="en-US" dirty="0" err="1"/>
              <a:t>매소드의</a:t>
            </a:r>
            <a:r>
              <a:rPr lang="ko-KR" altLang="en-US" dirty="0"/>
              <a:t> </a:t>
            </a:r>
            <a:r>
              <a:rPr lang="ko-KR" altLang="en-US" dirty="0" err="1"/>
              <a:t>시그니처가</a:t>
            </a:r>
            <a:r>
              <a:rPr lang="ko-KR" altLang="en-US" dirty="0"/>
              <a:t> 변경되는 상황에 유연하게 대처하기가 어렵다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6911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BC720-7599-4429-A05C-2B02B0F5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CE1994-C98B-42DA-8450-6B68050A6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Run </a:t>
            </a:r>
            <a:r>
              <a:rPr lang="ko-KR" altLang="en-US" dirty="0"/>
              <a:t>아이콘 </a:t>
            </a:r>
            <a:r>
              <a:rPr lang="en-US" altLang="ko-KR" dirty="0"/>
              <a:t>&gt; Run Configurations… </a:t>
            </a:r>
            <a:r>
              <a:rPr lang="ko-KR" altLang="en-US" dirty="0"/>
              <a:t>실행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F49E05-C875-4C9B-B17A-294DDAC43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69" y="1468467"/>
            <a:ext cx="1924050" cy="14573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EAAC997-C891-4AC6-A3BB-EA24B07A9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447" y="1429214"/>
            <a:ext cx="7194118" cy="542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93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6ED36-7E76-4AFD-BECF-0AA7E065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607" y="5988230"/>
            <a:ext cx="11097208" cy="68580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en-US" altLang="ko-KR" dirty="0" err="1">
                <a:solidFill>
                  <a:schemeClr val="tx1"/>
                </a:solidFill>
              </a:rPr>
              <a:t>DmainClass</a:t>
            </a:r>
            <a:r>
              <a:rPr lang="en-US" altLang="ko-KR" dirty="0">
                <a:solidFill>
                  <a:schemeClr val="tx1"/>
                </a:solidFill>
              </a:rPr>
              <a:t>=</a:t>
            </a:r>
            <a:r>
              <a:rPr lang="en-US" altLang="ko-KR" dirty="0" err="1">
                <a:solidFill>
                  <a:schemeClr val="tx1"/>
                </a:solidFill>
              </a:rPr>
              <a:t>kr.ac.inje.comsi.board.BoardServiceClient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8E29F2D-984C-4403-AED6-B95DDA0A4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607" y="258943"/>
            <a:ext cx="7592335" cy="572928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DE1B572-68BE-4888-908A-514D0BFC6D5B}"/>
              </a:ext>
            </a:extLst>
          </p:cNvPr>
          <p:cNvSpPr/>
          <p:nvPr/>
        </p:nvSpPr>
        <p:spPr>
          <a:xfrm>
            <a:off x="4011283" y="1725283"/>
            <a:ext cx="2872596" cy="21566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ECCA0753-0F79-475C-B63C-890A36E4D0BF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3934253" y="3454271"/>
            <a:ext cx="4047286" cy="102063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010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3E136-4703-4AD2-BAD7-71EBCCF7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7875EAA-5C69-445A-8B88-EF54F582A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1033535"/>
            <a:ext cx="10706100" cy="4981575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09DF05F-EEDA-4A5B-9858-AFFF605E40C1}"/>
              </a:ext>
            </a:extLst>
          </p:cNvPr>
          <p:cNvCxnSpPr/>
          <p:nvPr/>
        </p:nvCxnSpPr>
        <p:spPr>
          <a:xfrm>
            <a:off x="3574473" y="3722255"/>
            <a:ext cx="93287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F361E7E-5BF9-40E2-A308-649C183AC8F0}"/>
              </a:ext>
            </a:extLst>
          </p:cNvPr>
          <p:cNvCxnSpPr/>
          <p:nvPr/>
        </p:nvCxnSpPr>
        <p:spPr>
          <a:xfrm>
            <a:off x="3565237" y="4082473"/>
            <a:ext cx="93287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B3C7F5-3E2B-4E10-9BC9-BBE51A0BA8F6}"/>
              </a:ext>
            </a:extLst>
          </p:cNvPr>
          <p:cNvSpPr txBox="1"/>
          <p:nvPr/>
        </p:nvSpPr>
        <p:spPr>
          <a:xfrm>
            <a:off x="4590473" y="3524322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printLog</a:t>
            </a:r>
            <a:r>
              <a:rPr lang="en-US" altLang="ko-KR" dirty="0"/>
              <a:t>() </a:t>
            </a:r>
            <a:r>
              <a:rPr lang="ko-KR" altLang="en-US" dirty="0"/>
              <a:t>실행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34A77-B6F0-4F7F-9A99-649DF3A03E99}"/>
              </a:ext>
            </a:extLst>
          </p:cNvPr>
          <p:cNvSpPr txBox="1"/>
          <p:nvPr/>
        </p:nvSpPr>
        <p:spPr>
          <a:xfrm>
            <a:off x="4590473" y="3856697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printLog</a:t>
            </a:r>
            <a:r>
              <a:rPr lang="en-US" altLang="ko-KR" dirty="0"/>
              <a:t>() </a:t>
            </a:r>
            <a:r>
              <a:rPr lang="ko-KR" altLang="en-US" dirty="0"/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3380371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779FC-1507-44E8-AA11-3903C5835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만약</a:t>
            </a:r>
            <a:r>
              <a:rPr lang="en-US" altLang="ko-KR" dirty="0"/>
              <a:t>?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11F26A-A38E-4C0A-B315-DCC53AFA3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LogAdvice</a:t>
            </a:r>
            <a:r>
              <a:rPr lang="en-US" altLang="ko-KR" dirty="0"/>
              <a:t> </a:t>
            </a:r>
            <a:r>
              <a:rPr lang="ko-KR" altLang="en-US" dirty="0"/>
              <a:t>클래스가 </a:t>
            </a:r>
            <a:r>
              <a:rPr lang="en-US" altLang="ko-KR" dirty="0"/>
              <a:t>Log4jAdvice</a:t>
            </a:r>
            <a:r>
              <a:rPr lang="ko-KR" altLang="en-US" dirty="0"/>
              <a:t>로 변경된다면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printLog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printLogging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r>
              <a:rPr lang="ko-KR" altLang="en-US" dirty="0">
                <a:sym typeface="Wingdings" panose="05000000000000000000" pitchFamily="2" charset="2"/>
              </a:rPr>
              <a:t>으로 변경된다면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en-US" altLang="ko-KR" b="1" dirty="0" err="1">
                <a:solidFill>
                  <a:schemeClr val="accent1"/>
                </a:solidFill>
                <a:sym typeface="Wingdings" panose="05000000000000000000" pitchFamily="2" charset="2"/>
              </a:rPr>
              <a:t>LogAdvice</a:t>
            </a:r>
            <a:r>
              <a:rPr lang="ko-KR" alt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클래스를 사용하는 </a:t>
            </a:r>
            <a:r>
              <a:rPr lang="en-US" altLang="ko-KR" b="1" dirty="0" err="1">
                <a:solidFill>
                  <a:schemeClr val="accent1"/>
                </a:solidFill>
                <a:sym typeface="Wingdings" panose="05000000000000000000" pitchFamily="2" charset="2"/>
              </a:rPr>
              <a:t>BoardServiceImpl</a:t>
            </a:r>
            <a:r>
              <a:rPr lang="en-US" altLang="ko-KR" b="1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클래스를 수정</a:t>
            </a:r>
            <a:endParaRPr lang="en-US" altLang="ko-KR" b="1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생성자 수정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로그 출력 메소드 수정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97374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B384193-FEE9-4BB2-A77E-34D776E6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AOP </a:t>
            </a:r>
            <a:r>
              <a:rPr lang="ko-KR" altLang="en-US" dirty="0"/>
              <a:t>시작하기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6DF8FA-B122-4B87-B9E0-BCF5E32D5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비즈니스 클래스 수정</a:t>
            </a:r>
            <a:r>
              <a:rPr lang="en-US" altLang="ko-KR" dirty="0"/>
              <a:t>(BoardServiceImple.java </a:t>
            </a:r>
            <a:r>
              <a:rPr lang="ko-KR" altLang="en-US" dirty="0"/>
              <a:t>클래스를 원상태로 복원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AOP </a:t>
            </a:r>
            <a:r>
              <a:rPr lang="ko-KR" altLang="en-US" dirty="0"/>
              <a:t>라이브러리 추가</a:t>
            </a:r>
            <a:r>
              <a:rPr lang="en-US" altLang="ko-KR" dirty="0"/>
              <a:t>(</a:t>
            </a:r>
            <a:r>
              <a:rPr lang="en-US" altLang="ko-KR" dirty="0" err="1"/>
              <a:t>gradle.build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스프링 설정파일</a:t>
            </a:r>
            <a:r>
              <a:rPr lang="en-US" altLang="ko-KR" dirty="0"/>
              <a:t>(applicationContext.xml) </a:t>
            </a:r>
            <a:r>
              <a:rPr lang="ko-KR" altLang="en-US" dirty="0"/>
              <a:t>파일에서 사용할 </a:t>
            </a:r>
            <a:r>
              <a:rPr lang="en-US" altLang="ko-KR" dirty="0" err="1"/>
              <a:t>aop</a:t>
            </a:r>
            <a:r>
              <a:rPr lang="en-US" altLang="ko-KR" dirty="0"/>
              <a:t> </a:t>
            </a:r>
            <a:r>
              <a:rPr lang="ko-KR" altLang="en-US" dirty="0"/>
              <a:t>네임 스페이스 추가</a:t>
            </a:r>
          </a:p>
        </p:txBody>
      </p:sp>
    </p:spTree>
    <p:extLst>
      <p:ext uri="{BB962C8B-B14F-4D97-AF65-F5344CB8AC3E}">
        <p14:creationId xmlns:p14="http://schemas.microsoft.com/office/powerpoint/2010/main" val="3626889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325E0-E904-48E4-95C5-22212F45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build.gradle</a:t>
            </a:r>
            <a:r>
              <a:rPr lang="en-US" altLang="ko-KR" dirty="0"/>
              <a:t> </a:t>
            </a:r>
            <a:r>
              <a:rPr lang="ko-KR" altLang="en-US" dirty="0"/>
              <a:t>수정 </a:t>
            </a:r>
            <a:r>
              <a:rPr lang="en-US" altLang="ko-KR" dirty="0"/>
              <a:t>– AOP </a:t>
            </a:r>
            <a:r>
              <a:rPr lang="ko-KR" altLang="en-US" dirty="0"/>
              <a:t>라이브러리</a:t>
            </a:r>
            <a:r>
              <a:rPr lang="en-US" altLang="ko-KR" dirty="0"/>
              <a:t>(</a:t>
            </a:r>
            <a:r>
              <a:rPr lang="en-US" altLang="ko-KR" dirty="0" err="1"/>
              <a:t>aspectjweaver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2ED8C8E7-0CF8-4783-9D85-64F252A9D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327" y="971653"/>
            <a:ext cx="9591871" cy="5161727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B117D1F-C9D5-4EFD-85D0-3B9418F4E3B2}"/>
              </a:ext>
            </a:extLst>
          </p:cNvPr>
          <p:cNvCxnSpPr/>
          <p:nvPr/>
        </p:nvCxnSpPr>
        <p:spPr>
          <a:xfrm>
            <a:off x="4989205" y="5568307"/>
            <a:ext cx="93287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98E8F6-5246-487F-BFBF-B88681AE6BFD}"/>
              </a:ext>
            </a:extLst>
          </p:cNvPr>
          <p:cNvSpPr txBox="1"/>
          <p:nvPr/>
        </p:nvSpPr>
        <p:spPr>
          <a:xfrm>
            <a:off x="6005205" y="537037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357896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6F15F-E4B1-4C8D-9D9D-4823C14D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Refresh</a:t>
            </a:r>
            <a:r>
              <a:rPr lang="ko-KR" altLang="en-US" dirty="0"/>
              <a:t> </a:t>
            </a:r>
            <a:r>
              <a:rPr lang="en-US" altLang="ko-KR" dirty="0" err="1"/>
              <a:t>gradle</a:t>
            </a:r>
            <a:r>
              <a:rPr lang="ko-KR" altLang="en-US" dirty="0"/>
              <a:t> </a:t>
            </a:r>
            <a:r>
              <a:rPr lang="en-US" altLang="ko-KR" dirty="0" err="1"/>
              <a:t>projec</a:t>
            </a:r>
            <a:r>
              <a:rPr lang="ko-KR" altLang="en-US" dirty="0"/>
              <a:t>를 통한 라이브러리 추가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5304B842-FC59-4C7E-A896-7458C14B3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1006340"/>
            <a:ext cx="6334125" cy="52006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675697F-C6EF-49EE-983F-B8D677891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830" y="1006340"/>
            <a:ext cx="4743450" cy="173355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F8F8F7A-4506-4565-AF95-714AB812E364}"/>
              </a:ext>
            </a:extLst>
          </p:cNvPr>
          <p:cNvSpPr/>
          <p:nvPr/>
        </p:nvSpPr>
        <p:spPr>
          <a:xfrm>
            <a:off x="7280694" y="1500996"/>
            <a:ext cx="4701397" cy="21566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95F1D-6A6D-40A0-BD5E-D109E95942A6}"/>
              </a:ext>
            </a:extLst>
          </p:cNvPr>
          <p:cNvSpPr txBox="1"/>
          <p:nvPr/>
        </p:nvSpPr>
        <p:spPr>
          <a:xfrm>
            <a:off x="9092242" y="33039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추가됨</a:t>
            </a:r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3B632B0C-C9DB-4BAD-BA1B-CB83AC029F26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8787479" y="2460003"/>
            <a:ext cx="1587260" cy="100569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98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AF82A-BC40-4C29-8F47-8DD472C6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applicationContext.xml</a:t>
            </a:r>
            <a:r>
              <a:rPr lang="ko-KR" altLang="en-US" dirty="0"/>
              <a:t> 수정 </a:t>
            </a:r>
            <a:r>
              <a:rPr lang="en-US" altLang="ko-KR" dirty="0"/>
              <a:t>– </a:t>
            </a:r>
            <a:r>
              <a:rPr lang="en-US" altLang="ko-KR" dirty="0" err="1"/>
              <a:t>aop</a:t>
            </a:r>
            <a:r>
              <a:rPr lang="en-US" altLang="ko-KR" dirty="0"/>
              <a:t> </a:t>
            </a:r>
            <a:r>
              <a:rPr lang="ko-KR" altLang="en-US" dirty="0"/>
              <a:t>네임스페이스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683F31-2DCC-4996-BB8B-B8D71D01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applicatonContext.xml</a:t>
            </a:r>
            <a:r>
              <a:rPr lang="ko-KR" altLang="en-US" dirty="0"/>
              <a:t>을 열고 아래 탭 항목에서 </a:t>
            </a:r>
            <a:r>
              <a:rPr lang="en-US" altLang="ko-KR" dirty="0"/>
              <a:t>“Namespaces” </a:t>
            </a:r>
            <a:r>
              <a:rPr lang="ko-KR" altLang="en-US" dirty="0"/>
              <a:t>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BAD164-6F36-43B5-B147-0B47C1ABC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82" y="1689818"/>
            <a:ext cx="8263729" cy="4641971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0CBE32-8BF6-4EBB-8397-CEB20A0EB0B6}"/>
              </a:ext>
            </a:extLst>
          </p:cNvPr>
          <p:cNvSpPr/>
          <p:nvPr/>
        </p:nvSpPr>
        <p:spPr>
          <a:xfrm>
            <a:off x="431321" y="2915728"/>
            <a:ext cx="4873924" cy="24154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CA037-0F5D-4D2B-A8E6-4F4EF70B632E}"/>
              </a:ext>
            </a:extLst>
          </p:cNvPr>
          <p:cNvSpPr txBox="1"/>
          <p:nvPr/>
        </p:nvSpPr>
        <p:spPr>
          <a:xfrm>
            <a:off x="9092242" y="3303917"/>
            <a:ext cx="2501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aop</a:t>
            </a:r>
            <a:r>
              <a:rPr lang="en-US" altLang="ko-KR" dirty="0"/>
              <a:t> </a:t>
            </a:r>
            <a:r>
              <a:rPr lang="ko-KR" altLang="en-US" dirty="0"/>
              <a:t>항목을 체크</a:t>
            </a:r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F7A42ED2-B709-419F-941E-D9DF35986AD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305245" y="3036498"/>
            <a:ext cx="3786997" cy="45208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2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F88A8-2751-482C-865E-D5B137AE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396" y="5436734"/>
            <a:ext cx="11097208" cy="860678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우선</a:t>
            </a:r>
            <a:r>
              <a:rPr lang="en-US" altLang="ko-KR" dirty="0"/>
              <a:t>, </a:t>
            </a:r>
            <a:r>
              <a:rPr lang="en-US" altLang="ko-KR" dirty="0" err="1"/>
              <a:t>LogAdvice</a:t>
            </a:r>
            <a:r>
              <a:rPr lang="en-US" altLang="ko-KR" dirty="0"/>
              <a:t> </a:t>
            </a:r>
            <a:r>
              <a:rPr lang="ko-KR" altLang="en-US" dirty="0"/>
              <a:t>클래스를 </a:t>
            </a:r>
            <a:r>
              <a:rPr lang="en-US" altLang="ko-KR" dirty="0"/>
              <a:t>&lt;bean&gt; </a:t>
            </a:r>
            <a:r>
              <a:rPr lang="ko-KR" altLang="en-US" dirty="0"/>
              <a:t>등록하고 </a:t>
            </a:r>
            <a:r>
              <a:rPr lang="en-US" altLang="ko-KR" dirty="0"/>
              <a:t>AOP </a:t>
            </a:r>
            <a:r>
              <a:rPr lang="ko-KR" altLang="en-US" dirty="0"/>
              <a:t>관련 설정을 다음과 같이 추가한다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D86126E-E6C1-46E5-81E3-D31CD7324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270493"/>
            <a:ext cx="10382250" cy="4981575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CFC689B-D3F6-431C-8B49-770037D1D6FD}"/>
              </a:ext>
            </a:extLst>
          </p:cNvPr>
          <p:cNvCxnSpPr/>
          <p:nvPr/>
        </p:nvCxnSpPr>
        <p:spPr>
          <a:xfrm>
            <a:off x="5417388" y="1500503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8168D7-65BF-482A-BE6C-1C7CAAE237C9}"/>
              </a:ext>
            </a:extLst>
          </p:cNvPr>
          <p:cNvSpPr txBox="1"/>
          <p:nvPr/>
        </p:nvSpPr>
        <p:spPr>
          <a:xfrm flipH="1">
            <a:off x="6866626" y="1315837"/>
            <a:ext cx="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9D021B0-A613-4471-9446-77EE3B6E4B30}"/>
              </a:ext>
            </a:extLst>
          </p:cNvPr>
          <p:cNvCxnSpPr/>
          <p:nvPr/>
        </p:nvCxnSpPr>
        <p:spPr>
          <a:xfrm>
            <a:off x="9601199" y="2018087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70B4DDE-1FA3-4259-86E0-43BD8B552FA6}"/>
              </a:ext>
            </a:extLst>
          </p:cNvPr>
          <p:cNvSpPr txBox="1"/>
          <p:nvPr/>
        </p:nvSpPr>
        <p:spPr>
          <a:xfrm flipH="1">
            <a:off x="11050437" y="1833421"/>
            <a:ext cx="69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634312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08BF8-1AB7-4DDC-8B20-C9F159D06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변경된 </a:t>
            </a:r>
            <a:r>
              <a:rPr lang="en-US" altLang="ko-KR" dirty="0"/>
              <a:t>applicationContext.xml – </a:t>
            </a:r>
            <a:r>
              <a:rPr lang="en-US" altLang="ko-KR" dirty="0" err="1"/>
              <a:t>aop</a:t>
            </a:r>
            <a:r>
              <a:rPr lang="en-US" altLang="ko-KR" dirty="0"/>
              <a:t> </a:t>
            </a:r>
            <a:r>
              <a:rPr lang="ko-KR" altLang="en-US" dirty="0"/>
              <a:t>관련 설정 추가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F93790E4-3AF2-44B1-A034-8BE40E87D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1055493"/>
            <a:ext cx="10325100" cy="498157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AE80C78-4966-4EBA-8D9D-BF7845BD6E98}"/>
              </a:ext>
            </a:extLst>
          </p:cNvPr>
          <p:cNvSpPr/>
          <p:nvPr/>
        </p:nvSpPr>
        <p:spPr>
          <a:xfrm>
            <a:off x="1026543" y="3312543"/>
            <a:ext cx="7970808" cy="1656272"/>
          </a:xfrm>
          <a:prstGeom prst="roundRect">
            <a:avLst>
              <a:gd name="adj" fmla="val 5149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277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C200B-EF4A-4E16-9F3D-F9BDB55E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565A2F78-7B6A-45BD-A72B-4B737B410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238" y="1256506"/>
            <a:ext cx="10677525" cy="520065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E103006-EE7C-49D1-938D-368945502FA8}"/>
              </a:ext>
            </a:extLst>
          </p:cNvPr>
          <p:cNvCxnSpPr/>
          <p:nvPr/>
        </p:nvCxnSpPr>
        <p:spPr>
          <a:xfrm>
            <a:off x="3847381" y="4148813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0525A88-CCA9-4C35-88AF-95AB30B08FD6}"/>
              </a:ext>
            </a:extLst>
          </p:cNvPr>
          <p:cNvSpPr txBox="1"/>
          <p:nvPr/>
        </p:nvSpPr>
        <p:spPr>
          <a:xfrm flipH="1">
            <a:off x="5296618" y="3929643"/>
            <a:ext cx="3090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printLog</a:t>
            </a:r>
            <a:r>
              <a:rPr lang="en-US" altLang="ko-KR" dirty="0"/>
              <a:t>() </a:t>
            </a:r>
            <a:r>
              <a:rPr lang="ko-KR" altLang="en-US" dirty="0"/>
              <a:t>실행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CC80E13-CF21-4A94-827B-A98E9F4D8A87}"/>
              </a:ext>
            </a:extLst>
          </p:cNvPr>
          <p:cNvCxnSpPr/>
          <p:nvPr/>
        </p:nvCxnSpPr>
        <p:spPr>
          <a:xfrm>
            <a:off x="3847381" y="4518145"/>
            <a:ext cx="144923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890ED1-A241-4B5D-AF72-EB88DADBDDA0}"/>
              </a:ext>
            </a:extLst>
          </p:cNvPr>
          <p:cNvSpPr txBox="1"/>
          <p:nvPr/>
        </p:nvSpPr>
        <p:spPr>
          <a:xfrm flipH="1">
            <a:off x="5296618" y="4300323"/>
            <a:ext cx="3090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printLog</a:t>
            </a:r>
            <a:r>
              <a:rPr lang="en-US" altLang="ko-KR" dirty="0"/>
              <a:t>() </a:t>
            </a:r>
            <a:r>
              <a:rPr lang="ko-KR" altLang="en-US" dirty="0"/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191881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376CC-D59E-40DC-B2F8-38CD0D309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만약 </a:t>
            </a:r>
            <a:r>
              <a:rPr lang="en-US" altLang="ko-KR" dirty="0" err="1"/>
              <a:t>LogAdvice</a:t>
            </a:r>
            <a:r>
              <a:rPr lang="en-US" altLang="ko-KR" dirty="0"/>
              <a:t> </a:t>
            </a:r>
            <a:r>
              <a:rPr lang="ko-KR" altLang="en-US" dirty="0"/>
              <a:t>클래스를 </a:t>
            </a:r>
            <a:r>
              <a:rPr lang="en-US" altLang="ko-KR" dirty="0"/>
              <a:t>Log4jAdvice</a:t>
            </a:r>
            <a:r>
              <a:rPr lang="ko-KR" altLang="en-US" dirty="0"/>
              <a:t>로 변경한다면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640C07B-BB2E-4AED-987A-0C4B8DEF0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96" y="1055493"/>
            <a:ext cx="10325100" cy="4981575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EEA58F3-E923-4DF1-AD41-68374DF443C1}"/>
              </a:ext>
            </a:extLst>
          </p:cNvPr>
          <p:cNvCxnSpPr/>
          <p:nvPr/>
        </p:nvCxnSpPr>
        <p:spPr>
          <a:xfrm>
            <a:off x="4718649" y="3761117"/>
            <a:ext cx="7504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FD757D-1EA2-4A1C-A97D-776D62BE58B0}"/>
              </a:ext>
            </a:extLst>
          </p:cNvPr>
          <p:cNvCxnSpPr/>
          <p:nvPr/>
        </p:nvCxnSpPr>
        <p:spPr>
          <a:xfrm>
            <a:off x="3303917" y="4623758"/>
            <a:ext cx="7504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1466C6EB-3F65-4F68-9057-713968818A4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093898" y="3761117"/>
            <a:ext cx="1393991" cy="7661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248782-16C0-4246-AF6B-36CA8FAF9E21}"/>
              </a:ext>
            </a:extLst>
          </p:cNvPr>
          <p:cNvSpPr txBox="1"/>
          <p:nvPr/>
        </p:nvSpPr>
        <p:spPr>
          <a:xfrm>
            <a:off x="6487889" y="3653066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Log4jAdvice</a:t>
            </a:r>
            <a:r>
              <a:rPr lang="ko-KR" altLang="en-US" dirty="0"/>
              <a:t>로 변경</a:t>
            </a:r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931F38FB-7D9B-4892-BB83-B9E1DB7CC59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782683" y="4623758"/>
            <a:ext cx="1393991" cy="18466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296018C-CFA5-4FAA-9889-2D4874D5D66A}"/>
              </a:ext>
            </a:extLst>
          </p:cNvPr>
          <p:cNvSpPr txBox="1"/>
          <p:nvPr/>
        </p:nvSpPr>
        <p:spPr>
          <a:xfrm>
            <a:off x="5176674" y="4623758"/>
            <a:ext cx="2776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printLogging</a:t>
            </a:r>
            <a:r>
              <a:rPr lang="ko-KR" altLang="en-US" dirty="0"/>
              <a:t>으로 변경</a:t>
            </a:r>
          </a:p>
        </p:txBody>
      </p:sp>
    </p:spTree>
    <p:extLst>
      <p:ext uri="{BB962C8B-B14F-4D97-AF65-F5344CB8AC3E}">
        <p14:creationId xmlns:p14="http://schemas.microsoft.com/office/powerpoint/2010/main" val="2888075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50F93-ABFF-4C3D-B470-E904D736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포인트 컷 표현식의 구성과 의미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987DB45-9B6D-4FF4-A27E-0A767E38B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566843"/>
              </p:ext>
            </p:extLst>
          </p:nvPr>
        </p:nvGraphicFramePr>
        <p:xfrm>
          <a:off x="2225614" y="2298299"/>
          <a:ext cx="7839495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442">
                  <a:extLst>
                    <a:ext uri="{9D8B030D-6E8A-4147-A177-3AD203B41FA5}">
                      <a16:colId xmlns:a16="http://schemas.microsoft.com/office/drawing/2014/main" val="2287666728"/>
                    </a:ext>
                  </a:extLst>
                </a:gridCol>
                <a:gridCol w="1940943">
                  <a:extLst>
                    <a:ext uri="{9D8B030D-6E8A-4147-A177-3AD203B41FA5}">
                      <a16:colId xmlns:a16="http://schemas.microsoft.com/office/drawing/2014/main" val="2332579815"/>
                    </a:ext>
                  </a:extLst>
                </a:gridCol>
                <a:gridCol w="729665">
                  <a:extLst>
                    <a:ext uri="{9D8B030D-6E8A-4147-A177-3AD203B41FA5}">
                      <a16:colId xmlns:a16="http://schemas.microsoft.com/office/drawing/2014/main" val="42246737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14190036"/>
                    </a:ext>
                  </a:extLst>
                </a:gridCol>
                <a:gridCol w="4555165">
                  <a:extLst>
                    <a:ext uri="{9D8B030D-6E8A-4147-A177-3AD203B41FA5}">
                      <a16:colId xmlns:a16="http://schemas.microsoft.com/office/drawing/2014/main" val="3039176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*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kr.ac.inje.comsi</a:t>
                      </a:r>
                      <a:r>
                        <a:rPr lang="en-US" altLang="ko-KR" dirty="0"/>
                        <a:t>. .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*</a:t>
                      </a:r>
                      <a:r>
                        <a:rPr lang="en-US" altLang="ko-KR" dirty="0" err="1"/>
                        <a:t>impl</a:t>
                      </a:r>
                      <a:endParaRPr lang="ko-KR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*(..)</a:t>
                      </a:r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95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*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kr.ac.inje.comsi</a:t>
                      </a:r>
                      <a:r>
                        <a:rPr lang="en-US" altLang="ko-KR" dirty="0"/>
                        <a:t>. .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*</a:t>
                      </a:r>
                      <a:r>
                        <a:rPr lang="en-US" altLang="ko-KR" dirty="0" err="1"/>
                        <a:t>impl</a:t>
                      </a:r>
                      <a:endParaRPr lang="ko-KR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get*(..)</a:t>
                      </a:r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3055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43CF27-E7AD-4B96-B054-C911E089EBF0}"/>
              </a:ext>
            </a:extLst>
          </p:cNvPr>
          <p:cNvSpPr txBox="1"/>
          <p:nvPr/>
        </p:nvSpPr>
        <p:spPr>
          <a:xfrm>
            <a:off x="1509621" y="38857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리턴타입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99862-DEA5-470C-8E31-80EC021EB41C}"/>
              </a:ext>
            </a:extLst>
          </p:cNvPr>
          <p:cNvSpPr txBox="1"/>
          <p:nvPr/>
        </p:nvSpPr>
        <p:spPr>
          <a:xfrm>
            <a:off x="3001991" y="388028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패키지 경로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BC8BC-0A63-4E48-80C6-54918C387C4A}"/>
              </a:ext>
            </a:extLst>
          </p:cNvPr>
          <p:cNvSpPr txBox="1"/>
          <p:nvPr/>
        </p:nvSpPr>
        <p:spPr>
          <a:xfrm>
            <a:off x="4537494" y="388028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클래스 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7A1B1-6BF2-44E0-B8F3-4DDC0423A276}"/>
              </a:ext>
            </a:extLst>
          </p:cNvPr>
          <p:cNvSpPr txBox="1"/>
          <p:nvPr/>
        </p:nvSpPr>
        <p:spPr>
          <a:xfrm>
            <a:off x="6742632" y="3880284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메소드명</a:t>
            </a:r>
            <a:r>
              <a:rPr lang="ko-KR" altLang="en-US" dirty="0"/>
              <a:t> 및 매개변수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E75AA26-9080-476C-BD71-61DE8D227987}"/>
              </a:ext>
            </a:extLst>
          </p:cNvPr>
          <p:cNvCxnSpPr>
            <a:endCxn id="5" idx="0"/>
          </p:cNvCxnSpPr>
          <p:nvPr/>
        </p:nvCxnSpPr>
        <p:spPr>
          <a:xfrm flipH="1">
            <a:off x="2063619" y="3039979"/>
            <a:ext cx="334524" cy="8457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C4A4E92-D948-46C6-967B-C65FEB6DED1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635080" y="3034559"/>
            <a:ext cx="77202" cy="8457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9BD731A-4C96-4CF8-92AC-CF2C2AB8EB3C}"/>
              </a:ext>
            </a:extLst>
          </p:cNvPr>
          <p:cNvCxnSpPr>
            <a:cxnSpLocks/>
          </p:cNvCxnSpPr>
          <p:nvPr/>
        </p:nvCxnSpPr>
        <p:spPr>
          <a:xfrm>
            <a:off x="5044546" y="3034558"/>
            <a:ext cx="77202" cy="8457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DD16603-2C27-411F-A7F2-CB5D8CF98E97}"/>
              </a:ext>
            </a:extLst>
          </p:cNvPr>
          <p:cNvCxnSpPr>
            <a:cxnSpLocks/>
          </p:cNvCxnSpPr>
          <p:nvPr/>
        </p:nvCxnSpPr>
        <p:spPr>
          <a:xfrm>
            <a:off x="6665430" y="3034558"/>
            <a:ext cx="1102721" cy="8457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801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A36E8-DC35-4155-9538-BD051773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① </a:t>
            </a:r>
            <a:r>
              <a:rPr lang="ko-KR" altLang="en-US" dirty="0" err="1"/>
              <a:t>리턴타입</a:t>
            </a:r>
            <a:r>
              <a:rPr lang="ko-KR" altLang="en-US" dirty="0"/>
              <a:t> 지정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EB936B-1CEC-49AC-A74E-EC28CB06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396" y="992038"/>
            <a:ext cx="11097208" cy="534837"/>
          </a:xfrm>
        </p:spPr>
        <p:txBody>
          <a:bodyPr/>
          <a:lstStyle/>
          <a:p>
            <a:r>
              <a:rPr lang="ko-KR" altLang="en-US" dirty="0" err="1"/>
              <a:t>리턴타입</a:t>
            </a:r>
            <a:r>
              <a:rPr lang="ko-KR" altLang="en-US" dirty="0"/>
              <a:t> 지정에서 가장 기본적인 방법은 </a:t>
            </a:r>
            <a:r>
              <a:rPr lang="en-US" altLang="ko-KR" dirty="0"/>
              <a:t>* </a:t>
            </a:r>
            <a:r>
              <a:rPr lang="ko-KR" altLang="en-US" dirty="0"/>
              <a:t>캐릭터를 이용하는 것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9976760-1057-49E5-A813-B54FB10B1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733024"/>
              </p:ext>
            </p:extLst>
          </p:nvPr>
        </p:nvGraphicFramePr>
        <p:xfrm>
          <a:off x="1159676" y="1797968"/>
          <a:ext cx="9830377" cy="1592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336">
                  <a:extLst>
                    <a:ext uri="{9D8B030D-6E8A-4147-A177-3AD203B41FA5}">
                      <a16:colId xmlns:a16="http://schemas.microsoft.com/office/drawing/2014/main" val="4176078251"/>
                    </a:ext>
                  </a:extLst>
                </a:gridCol>
                <a:gridCol w="7918041">
                  <a:extLst>
                    <a:ext uri="{9D8B030D-6E8A-4147-A177-3AD203B41FA5}">
                      <a16:colId xmlns:a16="http://schemas.microsoft.com/office/drawing/2014/main" val="1476440100"/>
                    </a:ext>
                  </a:extLst>
                </a:gridCol>
              </a:tblGrid>
              <a:tr h="398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표현식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172957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모든 </a:t>
                      </a:r>
                      <a:r>
                        <a:rPr lang="ko-KR" altLang="en-US" dirty="0" err="1"/>
                        <a:t>리턴타입</a:t>
                      </a:r>
                      <a:r>
                        <a:rPr lang="ko-KR" altLang="en-US" dirty="0"/>
                        <a:t> 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61658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void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리턴타입이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void</a:t>
                      </a:r>
                      <a:r>
                        <a:rPr lang="ko-KR" altLang="en-US" dirty="0"/>
                        <a:t>인 메소드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12309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!void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리턴타입이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void</a:t>
                      </a:r>
                      <a:r>
                        <a:rPr lang="ko-KR" altLang="en-US" dirty="0"/>
                        <a:t>가 아닌 메소드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95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914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20680-914D-4DAF-BBC9-1AA7EE5A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② 패키지 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5F7A77-11BE-47C8-8389-2AD87949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패키지 경로를 지정할 때는 </a:t>
            </a:r>
            <a:r>
              <a:rPr lang="en-US" altLang="ko-KR" dirty="0"/>
              <a:t>‘*’, ‘..’ </a:t>
            </a:r>
            <a:r>
              <a:rPr lang="ko-KR" altLang="en-US" dirty="0"/>
              <a:t>캐릭터를 이용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25FB81D-AEC2-43A2-B126-198DA1B76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270499"/>
              </p:ext>
            </p:extLst>
          </p:nvPr>
        </p:nvGraphicFramePr>
        <p:xfrm>
          <a:off x="1159676" y="1797968"/>
          <a:ext cx="10484928" cy="1834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584">
                  <a:extLst>
                    <a:ext uri="{9D8B030D-6E8A-4147-A177-3AD203B41FA5}">
                      <a16:colId xmlns:a16="http://schemas.microsoft.com/office/drawing/2014/main" val="4176078251"/>
                    </a:ext>
                  </a:extLst>
                </a:gridCol>
                <a:gridCol w="7771344">
                  <a:extLst>
                    <a:ext uri="{9D8B030D-6E8A-4147-A177-3AD203B41FA5}">
                      <a16:colId xmlns:a16="http://schemas.microsoft.com/office/drawing/2014/main" val="1476440100"/>
                    </a:ext>
                  </a:extLst>
                </a:gridCol>
              </a:tblGrid>
              <a:tr h="398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표현식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172957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kr.ac.inje.comsi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정확하게 </a:t>
                      </a:r>
                      <a:r>
                        <a:rPr lang="en-US" altLang="ko-KR" dirty="0" err="1"/>
                        <a:t>kr.ac.inje.comsi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패키지만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61658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kr.ac.inje.comsi</a:t>
                      </a:r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kr.ac.inje.comsi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패키지로 시작하는 모든 패키지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12309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com.</a:t>
                      </a:r>
                      <a:r>
                        <a:rPr lang="en-US" altLang="ko-KR" dirty="0" err="1"/>
                        <a:t>springbook</a:t>
                      </a:r>
                      <a:r>
                        <a:rPr lang="en-US" altLang="ko-KR" dirty="0"/>
                        <a:t>..</a:t>
                      </a:r>
                      <a:r>
                        <a:rPr lang="en-US" altLang="ko-KR" dirty="0" err="1"/>
                        <a:t>impl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kr.ac.inje.comsi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패키지로 시작하면서 마지막 패키지 이름이 </a:t>
                      </a:r>
                      <a:r>
                        <a:rPr lang="en-US" altLang="ko-KR" dirty="0" err="1"/>
                        <a:t>impl</a:t>
                      </a:r>
                      <a:r>
                        <a:rPr lang="ko-KR" altLang="en-US" dirty="0"/>
                        <a:t>로 끝나는 패키지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95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78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656DE-F91E-4B42-AE80-0D8C5D70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③ 클래스 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934474-F71D-4A90-AA2E-217521E07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396" y="992038"/>
            <a:ext cx="11097208" cy="741871"/>
          </a:xfrm>
        </p:spPr>
        <p:txBody>
          <a:bodyPr/>
          <a:lstStyle/>
          <a:p>
            <a:r>
              <a:rPr lang="ko-KR" altLang="en-US" dirty="0"/>
              <a:t>클래스 이름을 지정할 때는 </a:t>
            </a:r>
            <a:r>
              <a:rPr lang="en-US" altLang="ko-KR" dirty="0"/>
              <a:t>‘*’,</a:t>
            </a:r>
            <a:r>
              <a:rPr lang="ko-KR" altLang="en-US" dirty="0"/>
              <a:t>‘</a:t>
            </a:r>
            <a:r>
              <a:rPr lang="en-US" altLang="ko-KR" dirty="0"/>
              <a:t>+’ </a:t>
            </a:r>
            <a:r>
              <a:rPr lang="ko-KR" altLang="en-US" dirty="0"/>
              <a:t>캐릭터를 이용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7A45C53-E66F-42AB-8AC9-7B471CA32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2388"/>
              </p:ext>
            </p:extLst>
          </p:nvPr>
        </p:nvGraphicFramePr>
        <p:xfrm>
          <a:off x="1047532" y="1595887"/>
          <a:ext cx="10484928" cy="2108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584">
                  <a:extLst>
                    <a:ext uri="{9D8B030D-6E8A-4147-A177-3AD203B41FA5}">
                      <a16:colId xmlns:a16="http://schemas.microsoft.com/office/drawing/2014/main" val="4176078251"/>
                    </a:ext>
                  </a:extLst>
                </a:gridCol>
                <a:gridCol w="7771344">
                  <a:extLst>
                    <a:ext uri="{9D8B030D-6E8A-4147-A177-3AD203B41FA5}">
                      <a16:colId xmlns:a16="http://schemas.microsoft.com/office/drawing/2014/main" val="1476440100"/>
                    </a:ext>
                  </a:extLst>
                </a:gridCol>
              </a:tblGrid>
              <a:tr h="398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표현식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172957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BoardServiceImpl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정확하게 </a:t>
                      </a:r>
                      <a:r>
                        <a:rPr lang="en-US" altLang="ko-KR" dirty="0" err="1"/>
                        <a:t>BoardServiceImpl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클래스만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61658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*</a:t>
                      </a:r>
                      <a:r>
                        <a:rPr lang="en-US" altLang="ko-KR" dirty="0" err="1"/>
                        <a:t>Impl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클래스 이름이 </a:t>
                      </a:r>
                      <a:r>
                        <a:rPr lang="en-US" altLang="ko-KR" dirty="0" err="1"/>
                        <a:t>Impl</a:t>
                      </a:r>
                      <a:r>
                        <a:rPr lang="ko-KR" altLang="en-US" dirty="0"/>
                        <a:t>로 끝나는 클래스만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12309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BoardService</a:t>
                      </a:r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클래스 이름 뒤에 </a:t>
                      </a:r>
                      <a:r>
                        <a:rPr lang="en-US" altLang="ko-KR" dirty="0"/>
                        <a:t>‘+’</a:t>
                      </a:r>
                      <a:r>
                        <a:rPr lang="ko-KR" altLang="en-US" dirty="0"/>
                        <a:t>가 붙으면 해당 클래스로부터 파생된 모든 자식 클래스 선택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인터페이스 뒤에 </a:t>
                      </a:r>
                      <a:r>
                        <a:rPr lang="en-US" altLang="ko-KR" dirty="0"/>
                        <a:t>‘+’</a:t>
                      </a:r>
                      <a:r>
                        <a:rPr lang="ko-KR" altLang="en-US" dirty="0"/>
                        <a:t>가 붙으면 해당 인터페이스를 구현한 모든 클래스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95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457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989D7-F4D5-45B1-97E9-81DF6F59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④ 메소드 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AE8FD-76EA-437F-BA5B-472CAF10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메소드를 지정할 때는 주로 </a:t>
            </a:r>
            <a:r>
              <a:rPr lang="en-US" altLang="ko-KR" dirty="0"/>
              <a:t>‘*’ </a:t>
            </a:r>
            <a:r>
              <a:rPr lang="ko-KR" altLang="en-US" dirty="0"/>
              <a:t>캐릭터를 사용하고 매개변수를 지정할 때는 </a:t>
            </a:r>
            <a:r>
              <a:rPr lang="en-US" altLang="ko-KR" dirty="0"/>
              <a:t>‘..’</a:t>
            </a:r>
            <a:r>
              <a:rPr lang="ko-KR" altLang="en-US" dirty="0"/>
              <a:t>을 사용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601E6A1-A390-4158-AE42-DBE7A0EF5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878581"/>
              </p:ext>
            </p:extLst>
          </p:nvPr>
        </p:nvGraphicFramePr>
        <p:xfrm>
          <a:off x="978521" y="1975449"/>
          <a:ext cx="10484928" cy="1194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241">
                  <a:extLst>
                    <a:ext uri="{9D8B030D-6E8A-4147-A177-3AD203B41FA5}">
                      <a16:colId xmlns:a16="http://schemas.microsoft.com/office/drawing/2014/main" val="4176078251"/>
                    </a:ext>
                  </a:extLst>
                </a:gridCol>
                <a:gridCol w="8340687">
                  <a:extLst>
                    <a:ext uri="{9D8B030D-6E8A-4147-A177-3AD203B41FA5}">
                      <a16:colId xmlns:a16="http://schemas.microsoft.com/office/drawing/2014/main" val="1476440100"/>
                    </a:ext>
                  </a:extLst>
                </a:gridCol>
              </a:tblGrid>
              <a:tr h="398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표현식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172957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*(..)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가장 기본 설정으로 모든 메소드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61658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get*(..)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메소드 이름이 </a:t>
                      </a:r>
                      <a:r>
                        <a:rPr lang="en-US" altLang="ko-KR" dirty="0"/>
                        <a:t>get</a:t>
                      </a:r>
                      <a:r>
                        <a:rPr lang="ko-KR" altLang="en-US" dirty="0"/>
                        <a:t>으로 시작하는 모든 메소드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12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266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CB584-64BD-4FBD-ADD5-BABB5E56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⑤ 매개변수 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2AA6D-21CA-4F2B-A2D0-F40E6247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매개변수를 지정할 때는 </a:t>
            </a:r>
            <a:r>
              <a:rPr lang="en-US" altLang="ko-KR" dirty="0"/>
              <a:t>‘..’, ‘*’</a:t>
            </a:r>
            <a:r>
              <a:rPr lang="ko-KR" altLang="en-US" dirty="0"/>
              <a:t>캐릭터를 사용하거나 정확한 타입을 지정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BE5F0E0-1193-4607-8972-010BC4AB2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238903"/>
              </p:ext>
            </p:extLst>
          </p:nvPr>
        </p:nvGraphicFramePr>
        <p:xfrm>
          <a:off x="1047532" y="1595887"/>
          <a:ext cx="10597072" cy="368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16">
                  <a:extLst>
                    <a:ext uri="{9D8B030D-6E8A-4147-A177-3AD203B41FA5}">
                      <a16:colId xmlns:a16="http://schemas.microsoft.com/office/drawing/2014/main" val="4176078251"/>
                    </a:ext>
                  </a:extLst>
                </a:gridCol>
                <a:gridCol w="7104656">
                  <a:extLst>
                    <a:ext uri="{9D8B030D-6E8A-4147-A177-3AD203B41FA5}">
                      <a16:colId xmlns:a16="http://schemas.microsoft.com/office/drawing/2014/main" val="1476440100"/>
                    </a:ext>
                  </a:extLst>
                </a:gridCol>
              </a:tblGrid>
              <a:tr h="398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표현식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172957"/>
                  </a:ext>
                </a:extLst>
              </a:tr>
              <a:tr h="1990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(..)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가장 기본 설정으로 ‘</a:t>
                      </a:r>
                      <a:r>
                        <a:rPr lang="en-US" altLang="ko-KR" dirty="0"/>
                        <a:t>..’</a:t>
                      </a:r>
                      <a:r>
                        <a:rPr lang="ko-KR" altLang="en-US" dirty="0"/>
                        <a:t>은 모든 매개변수의 개수와 타입에 제약이 없음을 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61658"/>
                  </a:ext>
                </a:extLst>
              </a:tr>
              <a:tr h="1990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(*)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반드시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개의 매개변수를 가지는 메소드만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280275"/>
                  </a:ext>
                </a:extLst>
              </a:tr>
              <a:tr h="1990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kr.ac.inje.comsi.user.UserVO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매개변수로 </a:t>
                      </a:r>
                      <a:r>
                        <a:rPr lang="en-US" altLang="ko-KR" dirty="0" err="1"/>
                        <a:t>UserVO</a:t>
                      </a:r>
                      <a:r>
                        <a:rPr lang="ko-KR" altLang="en-US" dirty="0"/>
                        <a:t>를 가지는 메소드만 선택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이때 클래스의 패키지 경로가 반드시 포함되어야 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12309"/>
                  </a:ext>
                </a:extLst>
              </a:tr>
              <a:tr h="1990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(!</a:t>
                      </a:r>
                      <a:r>
                        <a:rPr lang="en-US" altLang="ko-KR" dirty="0" err="1"/>
                        <a:t>kr.ac.inje.comsiuser.UserVO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매개변수로 </a:t>
                      </a:r>
                      <a:r>
                        <a:rPr lang="en-US" altLang="ko-KR" dirty="0" err="1"/>
                        <a:t>UserVO</a:t>
                      </a:r>
                      <a:r>
                        <a:rPr lang="ko-KR" altLang="en-US" dirty="0"/>
                        <a:t>를 가지지 않는 메소드만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354518"/>
                  </a:ext>
                </a:extLst>
              </a:tr>
              <a:tr h="1990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(Integer, ..)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한 개 이상의 매개변수를 가지되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첫번째 매개변수의 타입이 </a:t>
                      </a:r>
                      <a:r>
                        <a:rPr lang="en-US" altLang="ko-KR" dirty="0"/>
                        <a:t>Integer</a:t>
                      </a:r>
                      <a:r>
                        <a:rPr lang="ko-KR" altLang="en-US" dirty="0"/>
                        <a:t>인 메소드만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951641"/>
                  </a:ext>
                </a:extLst>
              </a:tr>
              <a:tr h="1990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(Integer, *)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반드시 두 개의 매개변수를 가지되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첫번째 매개변수의 타입이 </a:t>
                      </a:r>
                      <a:r>
                        <a:rPr lang="en-US" altLang="ko-KR" dirty="0"/>
                        <a:t>Integer</a:t>
                      </a:r>
                      <a:r>
                        <a:rPr lang="ko-KR" altLang="en-US" dirty="0"/>
                        <a:t>인 메소드만 선택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902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7557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정리하면</a:t>
            </a:r>
            <a:r>
              <a:rPr lang="en-US" altLang="ko-KR" dirty="0"/>
              <a:t>,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88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관점 지향과 횡단 관심사의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7396" y="992039"/>
            <a:ext cx="11097208" cy="528852"/>
          </a:xfrm>
        </p:spPr>
        <p:txBody>
          <a:bodyPr/>
          <a:lstStyle/>
          <a:p>
            <a:r>
              <a:rPr lang="ko-KR" altLang="en-US" dirty="0"/>
              <a:t>기존</a:t>
            </a:r>
            <a:r>
              <a:rPr lang="en-US" altLang="ko-KR" dirty="0"/>
              <a:t> </a:t>
            </a:r>
            <a:r>
              <a:rPr lang="ko-KR" altLang="en-US" dirty="0"/>
              <a:t>객체 지향에서 관심사 분리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891273" y="1931537"/>
            <a:ext cx="2494859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insertBoard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</a:p>
          <a:p>
            <a:pPr algn="ctr"/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081877" y="2435593"/>
            <a:ext cx="2160240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880646" y="3083665"/>
            <a:ext cx="2494859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selectBoard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</a:p>
          <a:p>
            <a:pPr algn="ctr"/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algn="ctr"/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071250" y="3587721"/>
            <a:ext cx="2160240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891272" y="4451817"/>
            <a:ext cx="2494859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deleteBoard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</a:p>
          <a:p>
            <a:pPr algn="ctr"/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081876" y="4955873"/>
            <a:ext cx="2160240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081877" y="3875753"/>
            <a:ext cx="2160240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중괄호 10"/>
          <p:cNvSpPr/>
          <p:nvPr/>
        </p:nvSpPr>
        <p:spPr>
          <a:xfrm>
            <a:off x="2459224" y="2039549"/>
            <a:ext cx="144016" cy="320435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811152" y="2023577"/>
            <a:ext cx="5040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관심사의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횡단적으로 산재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491672" y="2435593"/>
            <a:ext cx="3456384" cy="2268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355768" y="2183565"/>
            <a:ext cx="2232248" cy="3960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관림사의</a:t>
            </a:r>
            <a:r>
              <a:rPr lang="ko-KR" altLang="en-US" dirty="0"/>
              <a:t> 분리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399884" y="3191677"/>
            <a:ext cx="1368152" cy="10441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로그출력 클래스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7031732" y="2975653"/>
            <a:ext cx="648072" cy="1512168"/>
          </a:xfrm>
          <a:prstGeom prst="ellipse">
            <a:avLst/>
          </a:prstGeom>
          <a:ln w="57150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707696" y="2579609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메서드</a:t>
            </a:r>
            <a:r>
              <a:rPr lang="ko-KR" altLang="en-US" dirty="0">
                <a:solidFill>
                  <a:schemeClr val="bg1"/>
                </a:solidFill>
              </a:rPr>
              <a:t> 호출</a:t>
            </a: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5242117" y="2507601"/>
            <a:ext cx="2977747" cy="972108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5231490" y="3638820"/>
            <a:ext cx="2988374" cy="10454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42116" y="3875753"/>
            <a:ext cx="2977748" cy="25550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5256962" y="4019769"/>
            <a:ext cx="2962902" cy="987204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011493" y="5999989"/>
            <a:ext cx="591747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675248" y="5887331"/>
            <a:ext cx="2566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 출력</a:t>
            </a:r>
            <a:r>
              <a:rPr lang="en-US" altLang="ko-KR" dirty="0"/>
              <a:t>(</a:t>
            </a:r>
            <a:r>
              <a:rPr lang="ko-KR" altLang="en-US" dirty="0"/>
              <a:t>횡단 관심사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327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관점 지향과 횡단 관심사의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7396" y="992039"/>
            <a:ext cx="11097208" cy="538182"/>
          </a:xfrm>
        </p:spPr>
        <p:txBody>
          <a:bodyPr/>
          <a:lstStyle/>
          <a:p>
            <a:r>
              <a:rPr lang="en-US" altLang="ko-KR" dirty="0"/>
              <a:t> AOP</a:t>
            </a:r>
            <a:r>
              <a:rPr lang="ko-KR" altLang="en-US" dirty="0"/>
              <a:t>에서 횡단 관심사 분리와 </a:t>
            </a:r>
            <a:r>
              <a:rPr lang="ko-KR" altLang="en-US" dirty="0" err="1"/>
              <a:t>위빙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132530" y="1903546"/>
            <a:ext cx="2494859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insertBoard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</a:p>
          <a:p>
            <a:pPr algn="ctr"/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323134" y="2407602"/>
            <a:ext cx="2160240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121903" y="3055674"/>
            <a:ext cx="2494859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selectBoard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</a:p>
          <a:p>
            <a:pPr algn="ctr"/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algn="ctr"/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12507" y="3559730"/>
            <a:ext cx="2160240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132529" y="4423826"/>
            <a:ext cx="2494859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deleteBoard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</a:p>
          <a:p>
            <a:pPr algn="ctr"/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323133" y="4927882"/>
            <a:ext cx="2160240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323134" y="3847762"/>
            <a:ext cx="2160240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중괄호 10"/>
          <p:cNvSpPr/>
          <p:nvPr/>
        </p:nvSpPr>
        <p:spPr>
          <a:xfrm>
            <a:off x="1905879" y="2011558"/>
            <a:ext cx="144016" cy="320435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257807" y="1995586"/>
            <a:ext cx="5040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관심사의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횡단적으로 산재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8818647" y="3202186"/>
            <a:ext cx="1368152" cy="10441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로그출력 클래스</a:t>
            </a:r>
            <a:endParaRPr lang="ko-KR" altLang="en-US" dirty="0"/>
          </a:p>
        </p:txBody>
      </p:sp>
      <p:sp>
        <p:nvSpPr>
          <p:cNvPr id="14" name="타원 13"/>
          <p:cNvSpPr/>
          <p:nvPr/>
        </p:nvSpPr>
        <p:spPr>
          <a:xfrm>
            <a:off x="5146239" y="2407602"/>
            <a:ext cx="648072" cy="2746024"/>
          </a:xfrm>
          <a:prstGeom prst="ellips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8062563" y="3292310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호출</a:t>
            </a: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4714191" y="2479610"/>
            <a:ext cx="1810826" cy="972108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4714191" y="3610829"/>
            <a:ext cx="1810826" cy="0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4714191" y="3873312"/>
            <a:ext cx="1810826" cy="0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V="1">
            <a:off x="4714191" y="3991778"/>
            <a:ext cx="1810826" cy="987204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23"/>
          <p:cNvSpPr/>
          <p:nvPr/>
        </p:nvSpPr>
        <p:spPr>
          <a:xfrm>
            <a:off x="6370375" y="3235694"/>
            <a:ext cx="1656184" cy="97210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n-ea"/>
              </a:rPr>
              <a:t>AOP</a:t>
            </a: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+mn-ea"/>
              </a:rPr>
              <a:t>프레임워크</a:t>
            </a:r>
          </a:p>
        </p:txBody>
      </p:sp>
      <p:cxnSp>
        <p:nvCxnSpPr>
          <p:cNvPr id="21" name="직선 화살표 연결선 20"/>
          <p:cNvCxnSpPr>
            <a:stCxn id="13" idx="1"/>
            <a:endCxn id="20" idx="3"/>
          </p:cNvCxnSpPr>
          <p:nvPr/>
        </p:nvCxnSpPr>
        <p:spPr>
          <a:xfrm flipH="1" flipV="1">
            <a:off x="8026559" y="3721748"/>
            <a:ext cx="792088" cy="2496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46239" y="2011558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위빙</a:t>
            </a:r>
            <a:endParaRPr lang="ko-KR" altLang="en-US" dirty="0"/>
          </a:p>
        </p:txBody>
      </p:sp>
      <p:sp>
        <p:nvSpPr>
          <p:cNvPr id="23" name="타원형 설명선 38"/>
          <p:cNvSpPr/>
          <p:nvPr/>
        </p:nvSpPr>
        <p:spPr>
          <a:xfrm>
            <a:off x="5146239" y="5133594"/>
            <a:ext cx="2184980" cy="776116"/>
          </a:xfrm>
          <a:prstGeom prst="wedgeEllipseCallout">
            <a:avLst>
              <a:gd name="adj1" fmla="val -26601"/>
              <a:gd name="adj2" fmla="val -13350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로그 출력 처리를 삽입한다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242124" y="6120660"/>
            <a:ext cx="591747" cy="144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1905879" y="6008002"/>
            <a:ext cx="2566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 출력</a:t>
            </a:r>
            <a:r>
              <a:rPr lang="en-US" altLang="ko-KR" dirty="0"/>
              <a:t>(</a:t>
            </a:r>
            <a:r>
              <a:rPr lang="ko-KR" altLang="en-US" dirty="0"/>
              <a:t>횡단 관심사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1959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AOP </a:t>
            </a:r>
            <a:r>
              <a:rPr lang="ko-KR" altLang="en-US" dirty="0"/>
              <a:t>용어와 개념도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54256" y="5467984"/>
            <a:ext cx="2870275" cy="11801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아래쪽 화살표 4"/>
          <p:cNvSpPr/>
          <p:nvPr/>
        </p:nvSpPr>
        <p:spPr>
          <a:xfrm>
            <a:off x="3345223" y="1584722"/>
            <a:ext cx="1512168" cy="4320480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800142" y="2542401"/>
            <a:ext cx="576064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00142" y="2838240"/>
            <a:ext cx="576064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800142" y="3470698"/>
            <a:ext cx="576064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800142" y="3622521"/>
            <a:ext cx="576064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800142" y="4518262"/>
            <a:ext cx="576064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00142" y="4702641"/>
            <a:ext cx="576064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910940" y="2461062"/>
            <a:ext cx="1440160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포인터컷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910940" y="3456598"/>
            <a:ext cx="1440160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포인터컷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910940" y="4474041"/>
            <a:ext cx="1440160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포인터컷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1896443" y="2599946"/>
            <a:ext cx="1788969" cy="591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1896443" y="3525555"/>
            <a:ext cx="1788969" cy="1264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1896443" y="4068418"/>
            <a:ext cx="1788969" cy="4498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960339" y="3307568"/>
            <a:ext cx="864096" cy="88924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조인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포인트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2" name="직선 화살표 연결선 21"/>
          <p:cNvCxnSpPr>
            <a:endCxn id="12" idx="1"/>
          </p:cNvCxnSpPr>
          <p:nvPr/>
        </p:nvCxnSpPr>
        <p:spPr>
          <a:xfrm>
            <a:off x="4484216" y="2580786"/>
            <a:ext cx="1426724" cy="10887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endCxn id="12" idx="1"/>
          </p:cNvCxnSpPr>
          <p:nvPr/>
        </p:nvCxnSpPr>
        <p:spPr>
          <a:xfrm flipV="1">
            <a:off x="4490936" y="2689662"/>
            <a:ext cx="1420004" cy="78884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endCxn id="13" idx="1"/>
          </p:cNvCxnSpPr>
          <p:nvPr/>
        </p:nvCxnSpPr>
        <p:spPr>
          <a:xfrm flipV="1">
            <a:off x="4490936" y="3685198"/>
            <a:ext cx="1420004" cy="83306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cxnSpLocks/>
            <a:endCxn id="14" idx="1"/>
          </p:cNvCxnSpPr>
          <p:nvPr/>
        </p:nvCxnSpPr>
        <p:spPr>
          <a:xfrm>
            <a:off x="4490936" y="3478505"/>
            <a:ext cx="1420004" cy="1224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cxnSpLocks/>
            <a:endCxn id="14" idx="1"/>
          </p:cNvCxnSpPr>
          <p:nvPr/>
        </p:nvCxnSpPr>
        <p:spPr>
          <a:xfrm>
            <a:off x="4484216" y="4510286"/>
            <a:ext cx="1426724" cy="1923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8197615" y="3339255"/>
            <a:ext cx="1656184" cy="69188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+mn-ea"/>
              </a:rPr>
              <a:t>위빙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(Weaving)</a:t>
            </a:r>
            <a:endParaRPr lang="ko-KR" altLang="en-US" sz="1600" dirty="0">
              <a:latin typeface="+mn-ea"/>
            </a:endParaRPr>
          </a:p>
        </p:txBody>
      </p:sp>
      <p:cxnSp>
        <p:nvCxnSpPr>
          <p:cNvPr id="29" name="직선 화살표 연결선 28"/>
          <p:cNvCxnSpPr>
            <a:cxnSpLocks/>
            <a:stCxn id="12" idx="3"/>
            <a:endCxn id="28" idx="2"/>
          </p:cNvCxnSpPr>
          <p:nvPr/>
        </p:nvCxnSpPr>
        <p:spPr>
          <a:xfrm>
            <a:off x="7351100" y="2689662"/>
            <a:ext cx="846515" cy="9955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cxnSpLocks/>
            <a:stCxn id="13" idx="3"/>
            <a:endCxn id="28" idx="2"/>
          </p:cNvCxnSpPr>
          <p:nvPr/>
        </p:nvCxnSpPr>
        <p:spPr>
          <a:xfrm>
            <a:off x="7351100" y="3685198"/>
            <a:ext cx="84651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cxnSpLocks/>
            <a:stCxn id="14" idx="3"/>
            <a:endCxn id="28" idx="2"/>
          </p:cNvCxnSpPr>
          <p:nvPr/>
        </p:nvCxnSpPr>
        <p:spPr>
          <a:xfrm flipV="1">
            <a:off x="7351100" y="3685198"/>
            <a:ext cx="846515" cy="101744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60427" y="885826"/>
            <a:ext cx="2134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핵심관심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BoardServiceImpl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34" name="타원형 설명선 48"/>
          <p:cNvSpPr/>
          <p:nvPr/>
        </p:nvSpPr>
        <p:spPr>
          <a:xfrm>
            <a:off x="5078082" y="1128864"/>
            <a:ext cx="2849082" cy="939957"/>
          </a:xfrm>
          <a:prstGeom prst="wedgeEllipseCallout">
            <a:avLst>
              <a:gd name="adj1" fmla="val -42245"/>
              <a:gd name="adj2" fmla="val 10844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n-ea"/>
              </a:rPr>
              <a:t>복수개의 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dirty="0">
                <a:latin typeface="+mn-ea"/>
              </a:rPr>
              <a:t>조인포인트를 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dirty="0">
                <a:latin typeface="+mn-ea"/>
              </a:rPr>
              <a:t>하나로 묶은 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dirty="0" err="1">
                <a:latin typeface="+mn-ea"/>
              </a:rPr>
              <a:t>포인터컷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75150" y="5715683"/>
            <a:ext cx="576064" cy="72008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73789" y="6438752"/>
            <a:ext cx="576064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75150" y="6067227"/>
            <a:ext cx="576064" cy="72008"/>
          </a:xfrm>
          <a:prstGeom prst="rect">
            <a:avLst/>
          </a:prstGeom>
          <a:solidFill>
            <a:schemeClr val="accent5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06047" y="6340239"/>
            <a:ext cx="15364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로깅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3160" y="5944165"/>
            <a:ext cx="1392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chemeClr val="bg1"/>
                </a:solidFill>
              </a:rPr>
              <a:t>메소드 호출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13161" y="5597798"/>
            <a:ext cx="1704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메소드 호출</a:t>
            </a:r>
          </a:p>
        </p:txBody>
      </p:sp>
      <p:cxnSp>
        <p:nvCxnSpPr>
          <p:cNvPr id="42" name="직선 화살표 연결선 41"/>
          <p:cNvCxnSpPr>
            <a:cxnSpLocks/>
            <a:endCxn id="14" idx="1"/>
          </p:cNvCxnSpPr>
          <p:nvPr/>
        </p:nvCxnSpPr>
        <p:spPr>
          <a:xfrm>
            <a:off x="4490936" y="2599946"/>
            <a:ext cx="1420004" cy="210269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65A0102-DA0F-41F6-B7F9-CC2D8B5EAAB1}"/>
              </a:ext>
            </a:extLst>
          </p:cNvPr>
          <p:cNvSpPr/>
          <p:nvPr/>
        </p:nvSpPr>
        <p:spPr>
          <a:xfrm>
            <a:off x="10311069" y="1906438"/>
            <a:ext cx="1333535" cy="356154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>
                <a:solidFill>
                  <a:schemeClr val="tx1"/>
                </a:solidFill>
                <a:latin typeface="+mn-ea"/>
              </a:rPr>
              <a:t>printLog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4C0028-036E-4B8C-8D4B-F8F8B566F5BD}"/>
              </a:ext>
            </a:extLst>
          </p:cNvPr>
          <p:cNvSpPr txBox="1"/>
          <p:nvPr/>
        </p:nvSpPr>
        <p:spPr>
          <a:xfrm>
            <a:off x="2487442" y="2525714"/>
            <a:ext cx="9973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insertBoard</a:t>
            </a:r>
            <a:r>
              <a:rPr lang="en-US" altLang="ko-KR" sz="1100" dirty="0"/>
              <a:t>()</a:t>
            </a:r>
            <a:endParaRPr lang="ko-KR" altLang="en-US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A97725-39D8-452F-8115-C2A784620148}"/>
              </a:ext>
            </a:extLst>
          </p:cNvPr>
          <p:cNvSpPr txBox="1"/>
          <p:nvPr/>
        </p:nvSpPr>
        <p:spPr>
          <a:xfrm>
            <a:off x="2437505" y="3311540"/>
            <a:ext cx="10086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selectBoard</a:t>
            </a:r>
            <a:r>
              <a:rPr lang="en-US" altLang="ko-KR" sz="1100" dirty="0"/>
              <a:t>()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CD4BD3-1401-4345-A09D-2A4E88BB4E42}"/>
              </a:ext>
            </a:extLst>
          </p:cNvPr>
          <p:cNvSpPr txBox="1"/>
          <p:nvPr/>
        </p:nvSpPr>
        <p:spPr>
          <a:xfrm>
            <a:off x="2471809" y="4067141"/>
            <a:ext cx="10406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deleteBoard</a:t>
            </a:r>
            <a:r>
              <a:rPr lang="en-US" altLang="ko-KR" sz="1100" dirty="0"/>
              <a:t>()</a:t>
            </a:r>
            <a:endParaRPr lang="ko-KR" altLang="en-US" sz="11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F3BF0A-9317-48E5-B346-AF2847E7118A}"/>
              </a:ext>
            </a:extLst>
          </p:cNvPr>
          <p:cNvSpPr txBox="1"/>
          <p:nvPr/>
        </p:nvSpPr>
        <p:spPr>
          <a:xfrm>
            <a:off x="10217809" y="1143044"/>
            <a:ext cx="1406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횡단관심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LogAdvice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146F73D-9F27-4093-A09D-05F6089F3D52}"/>
              </a:ext>
            </a:extLst>
          </p:cNvPr>
          <p:cNvCxnSpPr>
            <a:cxnSpLocks/>
            <a:stCxn id="50" idx="1"/>
            <a:endCxn id="28" idx="6"/>
          </p:cNvCxnSpPr>
          <p:nvPr/>
        </p:nvCxnSpPr>
        <p:spPr>
          <a:xfrm flipH="1" flipV="1">
            <a:off x="9853799" y="3685198"/>
            <a:ext cx="457270" cy="201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446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084B8D2-0755-49BD-8C76-A226F59C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 정리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EA8181-BCDA-4238-BC39-D8B56C16E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88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AOP(Aspect Oriented Programming) - </a:t>
            </a:r>
            <a:r>
              <a:rPr lang="ko-KR" altLang="en-US" dirty="0"/>
              <a:t>용어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576497"/>
              </p:ext>
            </p:extLst>
          </p:nvPr>
        </p:nvGraphicFramePr>
        <p:xfrm>
          <a:off x="495536" y="885824"/>
          <a:ext cx="10598562" cy="537810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02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7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용어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7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 err="1"/>
                        <a:t>어드바이스</a:t>
                      </a:r>
                      <a:br>
                        <a:rPr lang="en-US" altLang="ko-KR" sz="1600" b="1" dirty="0"/>
                      </a:br>
                      <a:r>
                        <a:rPr lang="en-US" altLang="ko-KR" sz="1600" b="1" dirty="0"/>
                        <a:t>(Advice)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ko-KR" altLang="en-US" sz="1600" baseline="0" dirty="0"/>
                        <a:t>실질적인 비즈니스 </a:t>
                      </a:r>
                      <a:r>
                        <a:rPr lang="ko-KR" altLang="en-US" sz="1600" baseline="0" dirty="0" err="1"/>
                        <a:t>로직을</a:t>
                      </a:r>
                      <a:r>
                        <a:rPr lang="ko-KR" altLang="en-US" sz="1600" baseline="0" dirty="0"/>
                        <a:t> 구현하고 있는 </a:t>
                      </a:r>
                      <a:r>
                        <a:rPr lang="en-US" altLang="ko-KR" sz="1600" baseline="0" dirty="0"/>
                        <a:t>“</a:t>
                      </a:r>
                      <a:r>
                        <a:rPr lang="ko-KR" altLang="en-US" sz="1600" baseline="0" dirty="0"/>
                        <a:t>핵심 비즈니스 </a:t>
                      </a:r>
                      <a:r>
                        <a:rPr lang="ko-KR" altLang="en-US" sz="1600" baseline="0" dirty="0" err="1"/>
                        <a:t>로직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ko-KR" altLang="en-US" sz="1600" baseline="0" dirty="0" err="1"/>
                        <a:t>구현부</a:t>
                      </a:r>
                      <a:r>
                        <a:rPr lang="en-US" altLang="ko-KR" sz="1600" baseline="0" dirty="0"/>
                        <a:t>”</a:t>
                      </a:r>
                      <a:r>
                        <a:rPr lang="ko-KR" altLang="en-US" sz="1600" baseline="0" dirty="0"/>
                        <a:t>에 추가적인 기능을 제공하는 것</a:t>
                      </a:r>
                      <a:r>
                        <a:rPr lang="en-US" altLang="ko-KR" sz="1600" baseline="0" dirty="0"/>
                        <a:t>(</a:t>
                      </a:r>
                      <a:r>
                        <a:rPr lang="ko-KR" altLang="en-US" sz="1600" b="1" baseline="0" dirty="0">
                          <a:solidFill>
                            <a:schemeClr val="accent5"/>
                          </a:solidFill>
                        </a:rPr>
                        <a:t>횡단관심사</a:t>
                      </a:r>
                      <a:r>
                        <a:rPr lang="en-US" altLang="ko-KR" sz="1600" baseline="0" dirty="0"/>
                        <a:t>)</a:t>
                      </a:r>
                      <a:endParaRPr lang="en-US" altLang="ko-KR" sz="1600" baseline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조인포인트</a:t>
                      </a:r>
                      <a:endParaRPr lang="en-US" altLang="ko-KR" sz="1600" b="1" dirty="0"/>
                    </a:p>
                    <a:p>
                      <a:pPr algn="ctr" latinLnBrk="1"/>
                      <a:r>
                        <a:rPr lang="en-US" altLang="ko-KR" sz="1600" b="1" dirty="0"/>
                        <a:t>(</a:t>
                      </a:r>
                      <a:r>
                        <a:rPr lang="en-US" altLang="ko-KR" sz="1600" b="1" dirty="0" err="1"/>
                        <a:t>Joinpoint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클래스의 </a:t>
                      </a:r>
                      <a:r>
                        <a:rPr lang="ko-KR" altLang="en-US" sz="1600" dirty="0" err="1"/>
                        <a:t>인스턴스</a:t>
                      </a:r>
                      <a:r>
                        <a:rPr lang="ko-KR" altLang="en-US" sz="1600" dirty="0"/>
                        <a:t> 생성 시점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메소드를</a:t>
                      </a:r>
                      <a:r>
                        <a:rPr lang="ko-KR" altLang="en-US" sz="1600" dirty="0"/>
                        <a:t> 호출하는 시점</a:t>
                      </a:r>
                      <a:r>
                        <a:rPr lang="en-US" altLang="ko-KR" sz="1600" dirty="0"/>
                        <a:t>, Exception</a:t>
                      </a:r>
                      <a:r>
                        <a:rPr lang="ko-KR" altLang="en-US" sz="1600" dirty="0"/>
                        <a:t>이 발생하는 시점과 같이 어플리케이션을 실행할 때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특정 작업이 실행되는 시점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비즈니스 </a:t>
                      </a:r>
                      <a:r>
                        <a:rPr lang="ko-KR" altLang="en-US" sz="1600" dirty="0" err="1"/>
                        <a:t>매소드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을 의미한다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1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/>
                        <a:t>포인트컷</a:t>
                      </a:r>
                      <a:endParaRPr lang="en-US" altLang="ko-KR" sz="1600" b="1" dirty="0"/>
                    </a:p>
                    <a:p>
                      <a:pPr algn="ctr" latinLnBrk="1"/>
                      <a:r>
                        <a:rPr lang="en-US" altLang="ko-KR" sz="1600" b="1" dirty="0"/>
                        <a:t>(</a:t>
                      </a:r>
                      <a:r>
                        <a:rPr lang="en-US" altLang="ko-KR" sz="1600" b="1" dirty="0" err="1"/>
                        <a:t>Pointcut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ko-KR" altLang="en-US" sz="1600" dirty="0"/>
                        <a:t>분리된 기능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횡단관심사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로깅 </a:t>
                      </a:r>
                      <a:r>
                        <a:rPr lang="en-US" altLang="ko-KR" sz="1600" dirty="0"/>
                        <a:t>…)</a:t>
                      </a:r>
                      <a:r>
                        <a:rPr lang="ko-KR" altLang="en-US" sz="1600" dirty="0"/>
                        <a:t>들을 결합시키기 위한 규칙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패턴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이 필요한 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이와 같은 패턴을 </a:t>
                      </a:r>
                      <a:r>
                        <a:rPr lang="ko-KR" altLang="en-US" sz="1600" dirty="0" err="1"/>
                        <a:t>포인터컷이라고</a:t>
                      </a:r>
                      <a:r>
                        <a:rPr lang="ko-KR" altLang="en-US" sz="1600" dirty="0"/>
                        <a:t> 한다</a:t>
                      </a:r>
                      <a:r>
                        <a:rPr lang="en-US" altLang="ko-KR" sz="1600" dirty="0"/>
                        <a:t>.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9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/>
                        <a:t>위빙</a:t>
                      </a:r>
                      <a:endParaRPr lang="en-US" altLang="ko-KR" sz="1600" b="1" dirty="0"/>
                    </a:p>
                    <a:p>
                      <a:pPr algn="ctr" latinLnBrk="1"/>
                      <a:r>
                        <a:rPr lang="en-US" altLang="ko-KR" sz="1600" b="1" dirty="0"/>
                        <a:t>(Weaving)</a:t>
                      </a:r>
                      <a:endParaRPr lang="en-US" altLang="ko-KR" sz="16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600" dirty="0"/>
                        <a:t>“</a:t>
                      </a:r>
                      <a:r>
                        <a:rPr lang="ko-KR" altLang="en-US" sz="1600" dirty="0"/>
                        <a:t>엮는다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실로 짠다</a:t>
                      </a:r>
                      <a:r>
                        <a:rPr lang="en-US" altLang="ko-KR" sz="1600" dirty="0"/>
                        <a:t>”</a:t>
                      </a: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ko-KR" altLang="en-US" sz="1600" dirty="0"/>
                        <a:t>분리된 기능들을 하나로 결합시키는 것을 의미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ko-KR" altLang="en-US" sz="1600" dirty="0"/>
                        <a:t>분리하여 개발된 기능들을 </a:t>
                      </a:r>
                      <a:r>
                        <a:rPr lang="en-US" altLang="ko-KR" sz="1600" dirty="0"/>
                        <a:t>Weaving</a:t>
                      </a:r>
                      <a:r>
                        <a:rPr lang="ko-KR" altLang="en-US" sz="1600" dirty="0"/>
                        <a:t>하는 작업을 도와주는 것이 </a:t>
                      </a:r>
                      <a:r>
                        <a:rPr lang="en-US" altLang="ko-KR" sz="1600" dirty="0"/>
                        <a:t>AOP </a:t>
                      </a:r>
                      <a:r>
                        <a:rPr lang="ko-KR" altLang="en-US" sz="1600" dirty="0"/>
                        <a:t>툴이 하는 역할이다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4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/>
                        <a:t>어스펙트</a:t>
                      </a:r>
                      <a:endParaRPr lang="en-US" altLang="ko-KR" sz="1600" b="1" dirty="0"/>
                    </a:p>
                    <a:p>
                      <a:pPr algn="ctr" latinLnBrk="1"/>
                      <a:r>
                        <a:rPr lang="en-US" altLang="ko-KR" sz="1600" b="1" dirty="0"/>
                        <a:t>(Aspect) 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ko-KR" altLang="en-US" sz="1600" baseline="0" dirty="0" err="1"/>
                        <a:t>어드바이스와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ko-KR" altLang="en-US" sz="1600" baseline="0" dirty="0" err="1"/>
                        <a:t>포인트컷을</a:t>
                      </a:r>
                      <a:r>
                        <a:rPr lang="ko-KR" altLang="en-US" sz="1600" baseline="0" dirty="0"/>
                        <a:t> 합쳐서 하나의 </a:t>
                      </a:r>
                      <a:r>
                        <a:rPr lang="en-US" altLang="ko-KR" sz="1600" baseline="0" dirty="0"/>
                        <a:t>Aspect</a:t>
                      </a:r>
                      <a:r>
                        <a:rPr lang="ko-KR" altLang="en-US" sz="1600" baseline="0" dirty="0"/>
                        <a:t>라고 한다</a:t>
                      </a:r>
                      <a:r>
                        <a:rPr lang="en-US" altLang="ko-KR" sz="1600" baseline="0" dirty="0"/>
                        <a:t>. </a:t>
                      </a:r>
                      <a:r>
                        <a:rPr lang="ko-KR" altLang="en-US" sz="1600" baseline="0" dirty="0"/>
                        <a:t>즉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일정한 패턴을 가지는 클래스에 </a:t>
                      </a:r>
                      <a:r>
                        <a:rPr lang="ko-KR" altLang="en-US" sz="1600" baseline="0" dirty="0" err="1"/>
                        <a:t>어드바이스를</a:t>
                      </a:r>
                      <a:r>
                        <a:rPr lang="ko-KR" altLang="en-US" sz="1600" baseline="0" dirty="0"/>
                        <a:t> 적용하도록 지원할 수 있는 것을 </a:t>
                      </a:r>
                      <a:r>
                        <a:rPr lang="en-US" altLang="ko-KR" sz="1600" baseline="0" dirty="0"/>
                        <a:t>Aspect</a:t>
                      </a:r>
                      <a:r>
                        <a:rPr lang="ko-KR" altLang="en-US" sz="1600" baseline="0" dirty="0"/>
                        <a:t>라고 한다</a:t>
                      </a:r>
                      <a:r>
                        <a:rPr lang="en-US" altLang="ko-KR" sz="1600" baseline="0" dirty="0"/>
                        <a:t>. </a:t>
                      </a:r>
                      <a:r>
                        <a:rPr lang="ko-KR" altLang="en-US" sz="1600" baseline="0" dirty="0"/>
                        <a:t>혹은 </a:t>
                      </a:r>
                      <a:r>
                        <a:rPr lang="ko-KR" altLang="en-US" sz="1600" baseline="0" dirty="0" err="1"/>
                        <a:t>어드바이저</a:t>
                      </a:r>
                      <a:r>
                        <a:rPr lang="en-US" altLang="ko-KR" sz="1600" baseline="0" dirty="0"/>
                        <a:t>(Advisor)</a:t>
                      </a:r>
                      <a:r>
                        <a:rPr lang="ko-KR" altLang="en-US" sz="1600" baseline="0" dirty="0"/>
                        <a:t>라고 한다</a:t>
                      </a:r>
                      <a:r>
                        <a:rPr lang="en-US" altLang="ko-KR" sz="1600" baseline="0" dirty="0"/>
                        <a:t>.</a:t>
                      </a:r>
                      <a:endParaRPr lang="en-US" altLang="ko-KR" sz="1600" baseline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어드바이저</a:t>
                      </a:r>
                      <a:endParaRPr lang="en-US" altLang="ko-KR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(Advisor)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ko-KR" altLang="en-US" sz="1600" baseline="0" dirty="0" err="1"/>
                        <a:t>어드바이스와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ko-KR" altLang="en-US" sz="1600" baseline="0" dirty="0" err="1"/>
                        <a:t>포인트컷을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ko-KR" altLang="en-US" sz="1600" baseline="0" dirty="0">
                          <a:latin typeface="+mn-ea"/>
                          <a:ea typeface="+mn-ea"/>
                        </a:rPr>
                        <a:t>하나로 묶어 다루는 것을 말한다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282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ECA53-CB3A-4DF2-A67D-4BD69F73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Advice </a:t>
            </a:r>
            <a:r>
              <a:rPr lang="ko-KR" altLang="en-US" dirty="0"/>
              <a:t>동작 시점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9A4A2-2E75-4E20-9573-EEB100E04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어드바이스는</a:t>
            </a:r>
            <a:r>
              <a:rPr lang="ko-KR" altLang="en-US" dirty="0"/>
              <a:t> 각 조인포인트에 삽입되어 동작할 횡단 관심에 해당하는 공통 기능이며</a:t>
            </a:r>
            <a:r>
              <a:rPr lang="en-US" altLang="ko-KR" dirty="0"/>
              <a:t>, </a:t>
            </a:r>
            <a:r>
              <a:rPr lang="ko-KR" altLang="en-US" dirty="0"/>
              <a:t>동작 시점은 각 </a:t>
            </a:r>
            <a:r>
              <a:rPr lang="en-US" altLang="ko-KR" dirty="0"/>
              <a:t>AOP </a:t>
            </a:r>
            <a:r>
              <a:rPr lang="ko-KR" altLang="en-US" dirty="0"/>
              <a:t>기술마다 다르며 </a:t>
            </a:r>
            <a:r>
              <a:rPr lang="en-US" altLang="ko-KR" dirty="0"/>
              <a:t>5</a:t>
            </a:r>
            <a:r>
              <a:rPr lang="ko-KR" altLang="en-US" dirty="0"/>
              <a:t>가지의 동작 시점을 제공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3D11A77-9533-4F14-B7E3-1A48494EE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2296"/>
              </p:ext>
            </p:extLst>
          </p:nvPr>
        </p:nvGraphicFramePr>
        <p:xfrm>
          <a:off x="853536" y="2134398"/>
          <a:ext cx="10484928" cy="2899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819">
                  <a:extLst>
                    <a:ext uri="{9D8B030D-6E8A-4147-A177-3AD203B41FA5}">
                      <a16:colId xmlns:a16="http://schemas.microsoft.com/office/drawing/2014/main" val="4176078251"/>
                    </a:ext>
                  </a:extLst>
                </a:gridCol>
                <a:gridCol w="8414109">
                  <a:extLst>
                    <a:ext uri="{9D8B030D-6E8A-4147-A177-3AD203B41FA5}">
                      <a16:colId xmlns:a16="http://schemas.microsoft.com/office/drawing/2014/main" val="1476440100"/>
                    </a:ext>
                  </a:extLst>
                </a:gridCol>
              </a:tblGrid>
              <a:tr h="398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동작시점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172957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Before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비즈니스 메소드 실행 전 동작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61658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After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  After Returning: </a:t>
                      </a:r>
                      <a:r>
                        <a:rPr lang="ko-KR" altLang="en-US" dirty="0"/>
                        <a:t>비즈니스 메소드가 성공적으로 </a:t>
                      </a:r>
                      <a:r>
                        <a:rPr lang="ko-KR" altLang="en-US" dirty="0" err="1"/>
                        <a:t>리턴되면</a:t>
                      </a:r>
                      <a:r>
                        <a:rPr lang="ko-KR" altLang="en-US" dirty="0"/>
                        <a:t> 동작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After Throwing: </a:t>
                      </a:r>
                      <a:r>
                        <a:rPr lang="ko-KR" altLang="en-US" dirty="0"/>
                        <a:t>비즈니스 메소드 실행 중 예외가 발생하면 동작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마치 </a:t>
                      </a:r>
                      <a:r>
                        <a:rPr lang="en-US" altLang="ko-KR" dirty="0" err="1"/>
                        <a:t>try~catch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블록에서 </a:t>
                      </a:r>
                      <a:r>
                        <a:rPr lang="en-US" altLang="ko-KR" dirty="0"/>
                        <a:t>catch </a:t>
                      </a:r>
                      <a:r>
                        <a:rPr lang="ko-KR" altLang="en-US" dirty="0"/>
                        <a:t>블록에 해당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After: </a:t>
                      </a:r>
                      <a:r>
                        <a:rPr lang="ko-KR" altLang="en-US" dirty="0"/>
                        <a:t>비즈니스 메소드가 실행된 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무조건 실행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마치 </a:t>
                      </a:r>
                      <a:r>
                        <a:rPr lang="en-US" altLang="ko-KR" dirty="0" err="1"/>
                        <a:t>try~catch~finally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블록에서 </a:t>
                      </a:r>
                      <a:r>
                        <a:rPr lang="en-US" altLang="ko-KR" dirty="0"/>
                        <a:t>finally </a:t>
                      </a:r>
                      <a:r>
                        <a:rPr lang="ko-KR" altLang="en-US" dirty="0"/>
                        <a:t>블록에 해당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12309"/>
                  </a:ext>
                </a:extLst>
              </a:tr>
              <a:tr h="3980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Around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Around</a:t>
                      </a:r>
                      <a:r>
                        <a:rPr lang="ko-KR" altLang="en-US" dirty="0"/>
                        <a:t>는 메소드 호출 자체를 가로채 비즈니스 메소드 실행 전 후에 처리할 로직을 삽입할 수 있음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95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138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385E8-9546-4991-83F7-CAD6ACA6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2A819-990E-4BEC-897D-C7B22DBC3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396" y="992038"/>
            <a:ext cx="11097208" cy="2027207"/>
          </a:xfrm>
        </p:spPr>
        <p:txBody>
          <a:bodyPr/>
          <a:lstStyle/>
          <a:p>
            <a:r>
              <a:rPr lang="en-US" altLang="ko-KR" dirty="0"/>
              <a:t>Before </a:t>
            </a:r>
            <a:r>
              <a:rPr lang="ko-KR" altLang="en-US" dirty="0" err="1"/>
              <a:t>어드바이스는</a:t>
            </a:r>
            <a:r>
              <a:rPr lang="ko-KR" altLang="en-US" dirty="0"/>
              <a:t> </a:t>
            </a:r>
            <a:r>
              <a:rPr lang="ko-KR" altLang="en-US" dirty="0" err="1"/>
              <a:t>포인터컷으로</a:t>
            </a:r>
            <a:r>
              <a:rPr lang="ko-KR" altLang="en-US" dirty="0"/>
              <a:t> 지정된 메소드 호출 시</a:t>
            </a:r>
            <a:r>
              <a:rPr lang="en-US" altLang="ko-KR" dirty="0"/>
              <a:t>, </a:t>
            </a:r>
            <a:r>
              <a:rPr lang="ko-KR" altLang="en-US" dirty="0"/>
              <a:t>메소드가 실행되기 전에 처리될 내용들을 기술하기 위해 사용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78DB92-4455-4B97-A215-CD9DD4BE420B}"/>
              </a:ext>
            </a:extLst>
          </p:cNvPr>
          <p:cNvSpPr/>
          <p:nvPr/>
        </p:nvSpPr>
        <p:spPr>
          <a:xfrm>
            <a:off x="6317342" y="2626081"/>
            <a:ext cx="4577820" cy="298971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87A7D3-E048-42E1-AD96-6C8DAF2FC3D1}"/>
              </a:ext>
            </a:extLst>
          </p:cNvPr>
          <p:cNvSpPr/>
          <p:nvPr/>
        </p:nvSpPr>
        <p:spPr>
          <a:xfrm>
            <a:off x="8302914" y="3403121"/>
            <a:ext cx="2494859" cy="1245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insertBoard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(){</a:t>
            </a:r>
          </a:p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   비즈니스 로직 수행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36B846-D1ED-44BD-88F5-0C8B6754DC04}"/>
              </a:ext>
            </a:extLst>
          </p:cNvPr>
          <p:cNvSpPr/>
          <p:nvPr/>
        </p:nvSpPr>
        <p:spPr>
          <a:xfrm>
            <a:off x="8302914" y="2897055"/>
            <a:ext cx="2494859" cy="2656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Before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C8A86A-B82B-43CC-971C-4075CB96D20B}"/>
              </a:ext>
            </a:extLst>
          </p:cNvPr>
          <p:cNvSpPr txBox="1"/>
          <p:nvPr/>
        </p:nvSpPr>
        <p:spPr>
          <a:xfrm>
            <a:off x="8205525" y="2200966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Container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28D0204-E108-403A-8B93-ABEE80B0DDF3}"/>
              </a:ext>
            </a:extLst>
          </p:cNvPr>
          <p:cNvCxnSpPr>
            <a:cxnSpLocks/>
          </p:cNvCxnSpPr>
          <p:nvPr/>
        </p:nvCxnSpPr>
        <p:spPr>
          <a:xfrm>
            <a:off x="3584223" y="3571038"/>
            <a:ext cx="47186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D54DB8-5B2F-4F3E-B22C-F9F5EF816E11}"/>
              </a:ext>
            </a:extLst>
          </p:cNvPr>
          <p:cNvSpPr txBox="1"/>
          <p:nvPr/>
        </p:nvSpPr>
        <p:spPr>
          <a:xfrm>
            <a:off x="4373634" y="3192054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Method </a:t>
            </a:r>
            <a:r>
              <a:rPr lang="ko-KR" altLang="en-US" dirty="0"/>
              <a:t>호출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FB44D2F-3314-480E-A257-706CB92B1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77554" y="2570298"/>
            <a:ext cx="2716236" cy="2246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6EEDDF-5CCB-40AE-84E3-6C955DA4C0C1}"/>
              </a:ext>
            </a:extLst>
          </p:cNvPr>
          <p:cNvSpPr txBox="1"/>
          <p:nvPr/>
        </p:nvSpPr>
        <p:spPr>
          <a:xfrm>
            <a:off x="405441" y="5692720"/>
            <a:ext cx="10067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aop:aspect</a:t>
            </a:r>
            <a:r>
              <a:rPr lang="en-US" altLang="ko-KR" dirty="0"/>
              <a:t> ref=“log”&gt;</a:t>
            </a:r>
          </a:p>
          <a:p>
            <a:r>
              <a:rPr lang="en-US" altLang="ko-KR" dirty="0"/>
              <a:t>	&lt;</a:t>
            </a:r>
            <a:r>
              <a:rPr lang="en-US" altLang="ko-KR" dirty="0" err="1"/>
              <a:t>aop:</a:t>
            </a:r>
            <a:r>
              <a:rPr lang="en-US" altLang="ko-KR" b="1" dirty="0" err="1">
                <a:solidFill>
                  <a:schemeClr val="accent5"/>
                </a:solidFill>
              </a:rPr>
              <a:t>before</a:t>
            </a:r>
            <a:r>
              <a:rPr lang="en-US" altLang="ko-KR" dirty="0"/>
              <a:t> pointcut-ref=“</a:t>
            </a:r>
            <a:r>
              <a:rPr lang="en-US" altLang="ko-KR" dirty="0" err="1"/>
              <a:t>allPointcut</a:t>
            </a:r>
            <a:r>
              <a:rPr lang="en-US" altLang="ko-KR" dirty="0"/>
              <a:t>” method=“</a:t>
            </a:r>
            <a:r>
              <a:rPr lang="en-US" altLang="ko-KR" dirty="0" err="1"/>
              <a:t>printLog</a:t>
            </a:r>
            <a:r>
              <a:rPr lang="en-US" altLang="ko-KR" dirty="0"/>
              <a:t>”/&gt;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aop:aspect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08572F-5A21-4F7B-88B7-72C352E502E6}"/>
              </a:ext>
            </a:extLst>
          </p:cNvPr>
          <p:cNvSpPr txBox="1"/>
          <p:nvPr/>
        </p:nvSpPr>
        <p:spPr>
          <a:xfrm>
            <a:off x="405441" y="5140926"/>
            <a:ext cx="2686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5"/>
                </a:solidFill>
              </a:rPr>
              <a:t>applicationContext.xml: </a:t>
            </a:r>
            <a:endParaRPr lang="ko-KR" alt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466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283AE-C23B-487C-BC1A-17ECC53E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BAA22EA-3BC8-44F6-BC59-F3A2BC5721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1034475"/>
            <a:ext cx="10942640" cy="4372851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63461FC-95F1-450E-A6B1-26DDB0F05AB0}"/>
              </a:ext>
            </a:extLst>
          </p:cNvPr>
          <p:cNvSpPr txBox="1">
            <a:spLocks/>
          </p:cNvSpPr>
          <p:nvPr/>
        </p:nvSpPr>
        <p:spPr>
          <a:xfrm>
            <a:off x="547396" y="5555975"/>
            <a:ext cx="11097208" cy="11655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LogAdvice</a:t>
            </a:r>
            <a:r>
              <a:rPr lang="en-US" altLang="ko-KR" dirty="0"/>
              <a:t> </a:t>
            </a:r>
            <a:r>
              <a:rPr lang="ko-KR" altLang="en-US" dirty="0"/>
              <a:t>클래스의 </a:t>
            </a:r>
            <a:r>
              <a:rPr lang="en-US" altLang="ko-KR" dirty="0" err="1"/>
              <a:t>printLog</a:t>
            </a:r>
            <a:r>
              <a:rPr lang="en-US" altLang="ko-KR" dirty="0"/>
              <a:t>()</a:t>
            </a:r>
            <a:r>
              <a:rPr lang="ko-KR" altLang="en-US" dirty="0"/>
              <a:t> 메소드가 </a:t>
            </a:r>
            <a:r>
              <a:rPr lang="en-US" altLang="ko-KR" dirty="0"/>
              <a:t>Before</a:t>
            </a:r>
            <a:r>
              <a:rPr lang="ko-KR" altLang="en-US" dirty="0"/>
              <a:t>형태로 동작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핵심 관심사 </a:t>
            </a:r>
            <a:r>
              <a:rPr lang="en-US" altLang="ko-KR" dirty="0"/>
              <a:t>(</a:t>
            </a:r>
            <a:r>
              <a:rPr lang="en-US" altLang="ko-KR" dirty="0" err="1"/>
              <a:t>insertBoard</a:t>
            </a:r>
            <a:r>
              <a:rPr lang="en-US" altLang="ko-KR" dirty="0"/>
              <a:t>(), </a:t>
            </a:r>
            <a:r>
              <a:rPr lang="en-US" altLang="ko-KR" dirty="0" err="1"/>
              <a:t>getBoard</a:t>
            </a:r>
            <a:r>
              <a:rPr lang="en-US" altLang="ko-KR" dirty="0"/>
              <a:t>() </a:t>
            </a:r>
            <a:r>
              <a:rPr lang="ko-KR" altLang="en-US" dirty="0"/>
              <a:t>메소드</a:t>
            </a:r>
            <a:r>
              <a:rPr lang="en-US" altLang="ko-KR" dirty="0"/>
              <a:t>) </a:t>
            </a:r>
            <a:r>
              <a:rPr lang="ko-KR" altLang="en-US" dirty="0"/>
              <a:t>수행 전에 횡단 관심사</a:t>
            </a:r>
            <a:r>
              <a:rPr lang="en-US" altLang="ko-KR" dirty="0"/>
              <a:t>(</a:t>
            </a:r>
            <a:r>
              <a:rPr lang="en-US" altLang="ko-KR" dirty="0" err="1"/>
              <a:t>printLog</a:t>
            </a:r>
            <a:r>
              <a:rPr lang="en-US" altLang="ko-KR" dirty="0"/>
              <a:t>()</a:t>
            </a:r>
            <a:r>
              <a:rPr lang="ko-KR" altLang="en-US" dirty="0"/>
              <a:t>메소드</a:t>
            </a:r>
            <a:r>
              <a:rPr lang="en-US" altLang="ko-KR" dirty="0"/>
              <a:t>)</a:t>
            </a:r>
            <a:r>
              <a:rPr lang="ko-KR" altLang="en-US" dirty="0"/>
              <a:t> 수행</a:t>
            </a:r>
          </a:p>
        </p:txBody>
      </p:sp>
    </p:spTree>
    <p:extLst>
      <p:ext uri="{BB962C8B-B14F-4D97-AF65-F5344CB8AC3E}">
        <p14:creationId xmlns:p14="http://schemas.microsoft.com/office/powerpoint/2010/main" val="563330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7FBF2-325F-466E-AC5F-B4B3C787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 Returning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D7CFB8-E9AE-405F-93ED-E042D2585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포인트컷으로</a:t>
            </a:r>
            <a:r>
              <a:rPr lang="ko-KR" altLang="en-US" dirty="0"/>
              <a:t> 지정된 메소드가 정상적으로 실행되고 나서</a:t>
            </a:r>
            <a:r>
              <a:rPr lang="en-US" altLang="ko-KR" dirty="0"/>
              <a:t>, </a:t>
            </a:r>
            <a:r>
              <a:rPr lang="ko-KR" altLang="en-US" dirty="0"/>
              <a:t>메소드 수행 결과로 생성된 데이터를 </a:t>
            </a:r>
            <a:r>
              <a:rPr lang="ko-KR" altLang="en-US" dirty="0" err="1"/>
              <a:t>리턴하는</a:t>
            </a:r>
            <a:r>
              <a:rPr lang="ko-KR" altLang="en-US" dirty="0"/>
              <a:t> 시점에 동작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ED33AA-BE9E-41F9-985F-58DB019BD653}"/>
              </a:ext>
            </a:extLst>
          </p:cNvPr>
          <p:cNvSpPr/>
          <p:nvPr/>
        </p:nvSpPr>
        <p:spPr>
          <a:xfrm>
            <a:off x="6317342" y="2626081"/>
            <a:ext cx="4577820" cy="298971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A8E8EF-392D-4E4C-926B-5E4CCFFF0D85}"/>
              </a:ext>
            </a:extLst>
          </p:cNvPr>
          <p:cNvSpPr/>
          <p:nvPr/>
        </p:nvSpPr>
        <p:spPr>
          <a:xfrm>
            <a:off x="8302914" y="3403121"/>
            <a:ext cx="2494859" cy="1245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insertBoard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(){</a:t>
            </a:r>
          </a:p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   비즈니스 로직 수행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   </a:t>
            </a:r>
            <a:r>
              <a:rPr lang="en-US" altLang="ko-KR" dirty="0">
                <a:solidFill>
                  <a:schemeClr val="accent5"/>
                </a:solidFill>
                <a:latin typeface="+mn-ea"/>
              </a:rPr>
              <a:t>return</a:t>
            </a:r>
            <a:r>
              <a:rPr lang="ko-KR" altLang="en-US" dirty="0">
                <a:solidFill>
                  <a:schemeClr val="accent5"/>
                </a:solidFill>
                <a:latin typeface="+mn-ea"/>
              </a:rPr>
              <a:t> 데이터</a:t>
            </a:r>
            <a:r>
              <a:rPr lang="en-US" altLang="ko-KR" dirty="0">
                <a:solidFill>
                  <a:schemeClr val="accent5"/>
                </a:solidFill>
                <a:latin typeface="+mn-ea"/>
              </a:rPr>
              <a:t>;</a:t>
            </a:r>
          </a:p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48E3BD-6E64-4B49-965F-56BE1C3A470D}"/>
              </a:ext>
            </a:extLst>
          </p:cNvPr>
          <p:cNvSpPr/>
          <p:nvPr/>
        </p:nvSpPr>
        <p:spPr>
          <a:xfrm>
            <a:off x="8277037" y="4840419"/>
            <a:ext cx="2494859" cy="2656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After Returning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97C31-B508-4168-8D2A-04ADB46C0A03}"/>
              </a:ext>
            </a:extLst>
          </p:cNvPr>
          <p:cNvSpPr txBox="1"/>
          <p:nvPr/>
        </p:nvSpPr>
        <p:spPr>
          <a:xfrm>
            <a:off x="8205525" y="2200966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Container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FDD21E3-192E-41DD-9FCA-51642667F55E}"/>
              </a:ext>
            </a:extLst>
          </p:cNvPr>
          <p:cNvCxnSpPr>
            <a:cxnSpLocks/>
          </p:cNvCxnSpPr>
          <p:nvPr/>
        </p:nvCxnSpPr>
        <p:spPr>
          <a:xfrm>
            <a:off x="3584223" y="3571038"/>
            <a:ext cx="47186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2702BE-253E-4C0A-9CC1-B4195EA6503C}"/>
              </a:ext>
            </a:extLst>
          </p:cNvPr>
          <p:cNvSpPr txBox="1"/>
          <p:nvPr/>
        </p:nvSpPr>
        <p:spPr>
          <a:xfrm>
            <a:off x="4373634" y="3192054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Method </a:t>
            </a:r>
            <a:r>
              <a:rPr lang="ko-KR" altLang="en-US" dirty="0"/>
              <a:t>호출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BD64E00-D020-4E48-A399-E422658A0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77554" y="2570298"/>
            <a:ext cx="2716236" cy="224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4E3B6E-5489-4819-AA77-FC13ACD6F637}"/>
              </a:ext>
            </a:extLst>
          </p:cNvPr>
          <p:cNvSpPr txBox="1"/>
          <p:nvPr/>
        </p:nvSpPr>
        <p:spPr>
          <a:xfrm>
            <a:off x="405441" y="5692720"/>
            <a:ext cx="10067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aop:pointcut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id=“</a:t>
            </a:r>
            <a:r>
              <a:rPr lang="en-US" altLang="ko-KR" dirty="0" err="1"/>
              <a:t>getPointcut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expression=“execute(* </a:t>
            </a:r>
            <a:r>
              <a:rPr lang="en-US" altLang="ko-KR" dirty="0" err="1"/>
              <a:t>kr.ac.inje.comsi</a:t>
            </a:r>
            <a:r>
              <a:rPr lang="en-US" altLang="ko-KR" dirty="0"/>
              <a:t>..*</a:t>
            </a:r>
            <a:r>
              <a:rPr lang="en-US" altLang="ko-KR" dirty="0" err="1"/>
              <a:t>impl.get</a:t>
            </a:r>
            <a:r>
              <a:rPr lang="en-US" altLang="ko-KR" dirty="0"/>
              <a:t>*(..))” /&gt;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aop:aspect</a:t>
            </a:r>
            <a:r>
              <a:rPr lang="en-US" altLang="ko-KR" dirty="0"/>
              <a:t> ref=“log”&gt;</a:t>
            </a:r>
          </a:p>
          <a:p>
            <a:r>
              <a:rPr lang="en-US" altLang="ko-KR" dirty="0"/>
              <a:t>	&lt;</a:t>
            </a:r>
            <a:r>
              <a:rPr lang="en-US" altLang="ko-KR" dirty="0" err="1"/>
              <a:t>aop:</a:t>
            </a:r>
            <a:r>
              <a:rPr lang="en-US" altLang="ko-KR" b="1" dirty="0" err="1">
                <a:solidFill>
                  <a:schemeClr val="accent5"/>
                </a:solidFill>
              </a:rPr>
              <a:t>after-returning</a:t>
            </a:r>
            <a:r>
              <a:rPr lang="en-US" altLang="ko-KR" dirty="0"/>
              <a:t> pointcut-ref=“</a:t>
            </a:r>
            <a:r>
              <a:rPr lang="en-US" altLang="ko-KR" dirty="0" err="1"/>
              <a:t>allPointcut</a:t>
            </a:r>
            <a:r>
              <a:rPr lang="en-US" altLang="ko-KR" dirty="0"/>
              <a:t>” method=“</a:t>
            </a:r>
            <a:r>
              <a:rPr lang="en-US" altLang="ko-KR" dirty="0" err="1"/>
              <a:t>printLog</a:t>
            </a:r>
            <a:r>
              <a:rPr lang="en-US" altLang="ko-KR" dirty="0"/>
              <a:t>”/&gt;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aop:aspect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80D36-C9FD-489C-8A65-C9AE7A6FA868}"/>
              </a:ext>
            </a:extLst>
          </p:cNvPr>
          <p:cNvSpPr txBox="1"/>
          <p:nvPr/>
        </p:nvSpPr>
        <p:spPr>
          <a:xfrm>
            <a:off x="405441" y="5140926"/>
            <a:ext cx="2686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5"/>
                </a:solidFill>
              </a:rPr>
              <a:t>applicationContext.xml: </a:t>
            </a:r>
            <a:endParaRPr lang="ko-KR" alt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2863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4A23F-6F72-4F19-804E-33C7DE5A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LogAdvice.java</a:t>
            </a:r>
            <a:r>
              <a:rPr lang="ko-KR" altLang="en-US" dirty="0"/>
              <a:t>  수정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25375B-48F3-4444-AFC6-9B8BD4D2E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LogAdvice</a:t>
            </a:r>
            <a:r>
              <a:rPr lang="ko-KR" altLang="en-US" dirty="0"/>
              <a:t>의 </a:t>
            </a:r>
            <a:r>
              <a:rPr lang="en-US" altLang="ko-KR" dirty="0" err="1"/>
              <a:t>printLog</a:t>
            </a:r>
            <a:r>
              <a:rPr lang="en-US" altLang="ko-KR" dirty="0"/>
              <a:t>() </a:t>
            </a:r>
            <a:r>
              <a:rPr lang="ko-KR" altLang="en-US" dirty="0"/>
              <a:t>메소드 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435ECA-A7BD-4776-B048-B2863459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96" y="1647820"/>
            <a:ext cx="10031111" cy="1861998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7265767-23E1-4141-8352-D4E8548DA370}"/>
              </a:ext>
            </a:extLst>
          </p:cNvPr>
          <p:cNvCxnSpPr/>
          <p:nvPr/>
        </p:nvCxnSpPr>
        <p:spPr>
          <a:xfrm>
            <a:off x="3435927" y="2946400"/>
            <a:ext cx="33435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468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283AE-C23B-487C-BC1A-17ECC53E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 Returning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63461FC-95F1-450E-A6B1-26DDB0F05AB0}"/>
              </a:ext>
            </a:extLst>
          </p:cNvPr>
          <p:cNvSpPr txBox="1">
            <a:spLocks/>
          </p:cNvSpPr>
          <p:nvPr/>
        </p:nvSpPr>
        <p:spPr>
          <a:xfrm>
            <a:off x="547396" y="5555975"/>
            <a:ext cx="11097208" cy="11655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LogAdvice</a:t>
            </a:r>
            <a:r>
              <a:rPr lang="en-US" altLang="ko-KR" dirty="0"/>
              <a:t> </a:t>
            </a:r>
            <a:r>
              <a:rPr lang="ko-KR" altLang="en-US" dirty="0"/>
              <a:t>클래스의 </a:t>
            </a:r>
            <a:r>
              <a:rPr lang="en-US" altLang="ko-KR" dirty="0" err="1"/>
              <a:t>printLog</a:t>
            </a:r>
            <a:r>
              <a:rPr lang="en-US" altLang="ko-KR" dirty="0"/>
              <a:t>()</a:t>
            </a:r>
            <a:r>
              <a:rPr lang="ko-KR" altLang="en-US" dirty="0"/>
              <a:t> 메소드가 </a:t>
            </a:r>
            <a:r>
              <a:rPr lang="en-US" altLang="ko-KR" dirty="0"/>
              <a:t>After-Returning</a:t>
            </a:r>
            <a:r>
              <a:rPr lang="ko-KR" altLang="en-US" dirty="0"/>
              <a:t>형태로 동작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포인트컷의</a:t>
            </a:r>
            <a:r>
              <a:rPr lang="ko-KR" altLang="en-US" dirty="0"/>
              <a:t> 설정에 따라 핵심 관심사 </a:t>
            </a:r>
            <a:r>
              <a:rPr lang="en-US" altLang="ko-KR" dirty="0"/>
              <a:t>(</a:t>
            </a:r>
            <a:r>
              <a:rPr lang="en-US" altLang="ko-KR" dirty="0" err="1"/>
              <a:t>getBoard</a:t>
            </a:r>
            <a:r>
              <a:rPr lang="en-US" altLang="ko-KR" dirty="0"/>
              <a:t>() </a:t>
            </a:r>
            <a:r>
              <a:rPr lang="ko-KR" altLang="en-US" dirty="0"/>
              <a:t>메소드</a:t>
            </a:r>
            <a:r>
              <a:rPr lang="en-US" altLang="ko-KR" dirty="0"/>
              <a:t>) </a:t>
            </a:r>
            <a:r>
              <a:rPr lang="ko-KR" altLang="en-US" dirty="0"/>
              <a:t>수행 후에 횡단 관심사</a:t>
            </a:r>
            <a:r>
              <a:rPr lang="en-US" altLang="ko-KR" dirty="0"/>
              <a:t>(</a:t>
            </a:r>
            <a:r>
              <a:rPr lang="en-US" altLang="ko-KR" dirty="0" err="1"/>
              <a:t>printLog</a:t>
            </a:r>
            <a:r>
              <a:rPr lang="en-US" altLang="ko-KR" dirty="0"/>
              <a:t>()</a:t>
            </a:r>
            <a:r>
              <a:rPr lang="ko-KR" altLang="en-US" dirty="0"/>
              <a:t>메소드</a:t>
            </a:r>
            <a:r>
              <a:rPr lang="en-US" altLang="ko-KR" dirty="0"/>
              <a:t>)</a:t>
            </a:r>
            <a:r>
              <a:rPr lang="ko-KR" altLang="en-US" dirty="0"/>
              <a:t> 수행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15B267-C3FA-4E02-9F9F-B7519DB9E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885826"/>
            <a:ext cx="112204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744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7FBF2-325F-466E-AC5F-B4B3C787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 Throwing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D7CFB8-E9AE-405F-93ED-E042D2585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포인트컷으로</a:t>
            </a:r>
            <a:r>
              <a:rPr lang="ko-KR" altLang="en-US" dirty="0"/>
              <a:t> 지정된 메소드가 실행되다가 예외가 발생하는 시점에 동작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ED33AA-BE9E-41F9-985F-58DB019BD653}"/>
              </a:ext>
            </a:extLst>
          </p:cNvPr>
          <p:cNvSpPr/>
          <p:nvPr/>
        </p:nvSpPr>
        <p:spPr>
          <a:xfrm>
            <a:off x="6317342" y="2332787"/>
            <a:ext cx="4577820" cy="298971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A8E8EF-392D-4E4C-926B-5E4CCFFF0D85}"/>
              </a:ext>
            </a:extLst>
          </p:cNvPr>
          <p:cNvSpPr/>
          <p:nvPr/>
        </p:nvSpPr>
        <p:spPr>
          <a:xfrm>
            <a:off x="8302914" y="3109827"/>
            <a:ext cx="2494859" cy="1245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insertBoard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(){</a:t>
            </a:r>
          </a:p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   비즈니스 로직 수행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dirty="0">
                <a:solidFill>
                  <a:schemeClr val="accent5"/>
                </a:solidFill>
                <a:latin typeface="+mn-ea"/>
              </a:rPr>
              <a:t>throw new Exception()</a:t>
            </a:r>
          </a:p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48E3BD-6E64-4B49-965F-56BE1C3A470D}"/>
              </a:ext>
            </a:extLst>
          </p:cNvPr>
          <p:cNvSpPr/>
          <p:nvPr/>
        </p:nvSpPr>
        <p:spPr>
          <a:xfrm>
            <a:off x="8277037" y="4547125"/>
            <a:ext cx="2494859" cy="2656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After Throwing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97C31-B508-4168-8D2A-04ADB46C0A03}"/>
              </a:ext>
            </a:extLst>
          </p:cNvPr>
          <p:cNvSpPr txBox="1"/>
          <p:nvPr/>
        </p:nvSpPr>
        <p:spPr>
          <a:xfrm>
            <a:off x="8205525" y="1907672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Container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FDD21E3-192E-41DD-9FCA-51642667F55E}"/>
              </a:ext>
            </a:extLst>
          </p:cNvPr>
          <p:cNvCxnSpPr>
            <a:cxnSpLocks/>
          </p:cNvCxnSpPr>
          <p:nvPr/>
        </p:nvCxnSpPr>
        <p:spPr>
          <a:xfrm>
            <a:off x="3584223" y="3277744"/>
            <a:ext cx="47186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2702BE-253E-4C0A-9CC1-B4195EA6503C}"/>
              </a:ext>
            </a:extLst>
          </p:cNvPr>
          <p:cNvSpPr txBox="1"/>
          <p:nvPr/>
        </p:nvSpPr>
        <p:spPr>
          <a:xfrm>
            <a:off x="4373634" y="2898760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Method </a:t>
            </a:r>
            <a:r>
              <a:rPr lang="ko-KR" altLang="en-US" dirty="0"/>
              <a:t>호출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BD64E00-D020-4E48-A399-E422658A0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77554" y="2277004"/>
            <a:ext cx="2716236" cy="224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4E3B6E-5489-4819-AA77-FC13ACD6F637}"/>
              </a:ext>
            </a:extLst>
          </p:cNvPr>
          <p:cNvSpPr txBox="1"/>
          <p:nvPr/>
        </p:nvSpPr>
        <p:spPr>
          <a:xfrm>
            <a:off x="405441" y="5399426"/>
            <a:ext cx="10067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aop:pointcut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id=“</a:t>
            </a:r>
            <a:r>
              <a:rPr lang="en-US" altLang="ko-KR" dirty="0" err="1"/>
              <a:t>allPointcut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expression=“execute(* </a:t>
            </a:r>
            <a:r>
              <a:rPr lang="en-US" altLang="ko-KR" dirty="0" err="1"/>
              <a:t>kr.ac.inje.comsi</a:t>
            </a:r>
            <a:r>
              <a:rPr lang="en-US" altLang="ko-KR" dirty="0"/>
              <a:t>..*</a:t>
            </a:r>
            <a:r>
              <a:rPr lang="en-US" altLang="ko-KR" dirty="0" err="1"/>
              <a:t>impl</a:t>
            </a:r>
            <a:r>
              <a:rPr lang="en-US" altLang="ko-KR" dirty="0"/>
              <a:t>.*(..))” /&gt;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aop:aspect</a:t>
            </a:r>
            <a:r>
              <a:rPr lang="en-US" altLang="ko-KR" dirty="0"/>
              <a:t> ref=“log”&gt;</a:t>
            </a:r>
          </a:p>
          <a:p>
            <a:r>
              <a:rPr lang="en-US" altLang="ko-KR" dirty="0"/>
              <a:t>	&lt;</a:t>
            </a:r>
            <a:r>
              <a:rPr lang="en-US" altLang="ko-KR" dirty="0" err="1"/>
              <a:t>aop:</a:t>
            </a:r>
            <a:r>
              <a:rPr lang="en-US" altLang="ko-KR" b="1" dirty="0" err="1">
                <a:solidFill>
                  <a:schemeClr val="accent5"/>
                </a:solidFill>
              </a:rPr>
              <a:t>after-throwing</a:t>
            </a:r>
            <a:r>
              <a:rPr lang="en-US" altLang="ko-KR" dirty="0"/>
              <a:t> pointcut-ref=“</a:t>
            </a:r>
            <a:r>
              <a:rPr lang="en-US" altLang="ko-KR" dirty="0" err="1"/>
              <a:t>allPointcut</a:t>
            </a:r>
            <a:r>
              <a:rPr lang="en-US" altLang="ko-KR" dirty="0"/>
              <a:t>” method=“</a:t>
            </a:r>
            <a:r>
              <a:rPr lang="en-US" altLang="ko-KR" dirty="0" err="1"/>
              <a:t>printLog</a:t>
            </a:r>
            <a:r>
              <a:rPr lang="en-US" altLang="ko-KR" dirty="0"/>
              <a:t>”/&gt;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aop:aspect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80D36-C9FD-489C-8A65-C9AE7A6FA868}"/>
              </a:ext>
            </a:extLst>
          </p:cNvPr>
          <p:cNvSpPr txBox="1"/>
          <p:nvPr/>
        </p:nvSpPr>
        <p:spPr>
          <a:xfrm>
            <a:off x="405441" y="4847632"/>
            <a:ext cx="2686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5"/>
                </a:solidFill>
              </a:rPr>
              <a:t>applicationContext.xml: </a:t>
            </a:r>
            <a:endParaRPr lang="ko-KR" alt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9157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AB886-E8A1-4D65-9484-E7CC5E635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BoardServiceImpl.java </a:t>
            </a:r>
            <a:r>
              <a:rPr lang="ko-KR" altLang="en-US" dirty="0"/>
              <a:t>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390BB61-1ED7-44CD-83BC-8DFC6B533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885826"/>
            <a:ext cx="9664653" cy="423797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0EBD44E-0696-4468-82D8-DB14C504EBA9}"/>
              </a:ext>
            </a:extLst>
          </p:cNvPr>
          <p:cNvSpPr/>
          <p:nvPr/>
        </p:nvSpPr>
        <p:spPr>
          <a:xfrm>
            <a:off x="932873" y="3396602"/>
            <a:ext cx="8312727" cy="23090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04D623F-17E5-4419-9865-A71A17BA40FC}"/>
              </a:ext>
            </a:extLst>
          </p:cNvPr>
          <p:cNvCxnSpPr/>
          <p:nvPr/>
        </p:nvCxnSpPr>
        <p:spPr>
          <a:xfrm>
            <a:off x="9208655" y="3498202"/>
            <a:ext cx="11360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31A907-80D1-47DC-9790-BAAF10C60A18}"/>
              </a:ext>
            </a:extLst>
          </p:cNvPr>
          <p:cNvSpPr txBox="1"/>
          <p:nvPr/>
        </p:nvSpPr>
        <p:spPr>
          <a:xfrm>
            <a:off x="10344728" y="3313536"/>
            <a:ext cx="71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81707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F26EA-D540-4A13-B2D3-0438EECD2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LogAdvice.java</a:t>
            </a:r>
            <a:r>
              <a:rPr lang="ko-KR" altLang="en-US" dirty="0"/>
              <a:t> 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CADF122-08D4-4CEA-87C0-4B972A73A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1481498"/>
            <a:ext cx="9831585" cy="1880538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82E5B08-5C52-4D69-9A79-836BDFC6FCB0}"/>
              </a:ext>
            </a:extLst>
          </p:cNvPr>
          <p:cNvSpPr txBox="1">
            <a:spLocks/>
          </p:cNvSpPr>
          <p:nvPr/>
        </p:nvSpPr>
        <p:spPr>
          <a:xfrm>
            <a:off x="547396" y="992038"/>
            <a:ext cx="11097208" cy="5729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LogAdvice</a:t>
            </a:r>
            <a:r>
              <a:rPr lang="ko-KR" altLang="en-US"/>
              <a:t>의 </a:t>
            </a:r>
            <a:r>
              <a:rPr lang="en-US" altLang="ko-KR"/>
              <a:t>printLog() </a:t>
            </a:r>
            <a:r>
              <a:rPr lang="ko-KR" altLang="en-US"/>
              <a:t>메소드 수정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41865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C8DE8-1226-484F-9F18-5380E0C2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 Throwing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B6090D3-F2DB-4240-A0C8-5F0096A1C9C6}"/>
              </a:ext>
            </a:extLst>
          </p:cNvPr>
          <p:cNvSpPr txBox="1">
            <a:spLocks/>
          </p:cNvSpPr>
          <p:nvPr/>
        </p:nvSpPr>
        <p:spPr>
          <a:xfrm>
            <a:off x="547396" y="5555975"/>
            <a:ext cx="11097208" cy="11655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LogAdvice</a:t>
            </a:r>
            <a:r>
              <a:rPr lang="en-US" altLang="ko-KR" dirty="0"/>
              <a:t> </a:t>
            </a:r>
            <a:r>
              <a:rPr lang="ko-KR" altLang="en-US" dirty="0"/>
              <a:t>클래스의 </a:t>
            </a:r>
            <a:r>
              <a:rPr lang="en-US" altLang="ko-KR" dirty="0" err="1"/>
              <a:t>printLog</a:t>
            </a:r>
            <a:r>
              <a:rPr lang="en-US" altLang="ko-KR" dirty="0"/>
              <a:t>()</a:t>
            </a:r>
            <a:r>
              <a:rPr lang="ko-KR" altLang="en-US" dirty="0"/>
              <a:t> 메소드가 </a:t>
            </a:r>
            <a:r>
              <a:rPr lang="en-US" altLang="ko-KR" dirty="0"/>
              <a:t>After-throwing</a:t>
            </a:r>
            <a:r>
              <a:rPr lang="ko-KR" altLang="en-US" dirty="0"/>
              <a:t>형태로 동작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포인트컷의</a:t>
            </a:r>
            <a:r>
              <a:rPr lang="ko-KR" altLang="en-US" dirty="0"/>
              <a:t> 설정에 따라 핵심 관심사 수행 중 예외가 발생하여 횡단 관심사</a:t>
            </a:r>
            <a:r>
              <a:rPr lang="en-US" altLang="ko-KR" dirty="0"/>
              <a:t>(</a:t>
            </a:r>
            <a:r>
              <a:rPr lang="en-US" altLang="ko-KR" dirty="0" err="1"/>
              <a:t>printLog</a:t>
            </a:r>
            <a:r>
              <a:rPr lang="en-US" altLang="ko-KR" dirty="0"/>
              <a:t>()</a:t>
            </a:r>
            <a:r>
              <a:rPr lang="ko-KR" altLang="en-US" dirty="0"/>
              <a:t>메소드</a:t>
            </a:r>
            <a:r>
              <a:rPr lang="en-US" altLang="ko-KR" dirty="0"/>
              <a:t>)</a:t>
            </a:r>
            <a:r>
              <a:rPr lang="ko-KR" altLang="en-US" dirty="0"/>
              <a:t> 수행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E6BF807-0BA3-4B5A-A721-11B7303E5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96" y="1020625"/>
            <a:ext cx="1121092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2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7FBF2-325F-466E-AC5F-B4B3C787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D7CFB8-E9AE-405F-93ED-E042D2585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try-catch-finally </a:t>
            </a:r>
            <a:r>
              <a:rPr lang="ko-KR" altLang="en-US" dirty="0"/>
              <a:t>구문에서 </a:t>
            </a:r>
            <a:r>
              <a:rPr lang="en-US" altLang="ko-KR" dirty="0"/>
              <a:t>finally </a:t>
            </a:r>
            <a:r>
              <a:rPr lang="ko-KR" altLang="en-US" dirty="0"/>
              <a:t>블록처럼 예외 발생 여부에 상관없이 무조건 수행되는 </a:t>
            </a:r>
            <a:r>
              <a:rPr lang="ko-KR" altLang="en-US" dirty="0" err="1"/>
              <a:t>어드바이스를</a:t>
            </a:r>
            <a:r>
              <a:rPr lang="ko-KR" altLang="en-US" dirty="0"/>
              <a:t> 등록할 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ED33AA-BE9E-41F9-985F-58DB019BD653}"/>
              </a:ext>
            </a:extLst>
          </p:cNvPr>
          <p:cNvSpPr/>
          <p:nvPr/>
        </p:nvSpPr>
        <p:spPr>
          <a:xfrm>
            <a:off x="6317342" y="2332787"/>
            <a:ext cx="4577820" cy="298971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A8E8EF-392D-4E4C-926B-5E4CCFFF0D85}"/>
              </a:ext>
            </a:extLst>
          </p:cNvPr>
          <p:cNvSpPr/>
          <p:nvPr/>
        </p:nvSpPr>
        <p:spPr>
          <a:xfrm>
            <a:off x="8302914" y="3109827"/>
            <a:ext cx="2494859" cy="1245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insertBoard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(){</a:t>
            </a:r>
          </a:p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   비즈니스 로직 수행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48E3BD-6E64-4B49-965F-56BE1C3A470D}"/>
              </a:ext>
            </a:extLst>
          </p:cNvPr>
          <p:cNvSpPr/>
          <p:nvPr/>
        </p:nvSpPr>
        <p:spPr>
          <a:xfrm>
            <a:off x="8277037" y="4547125"/>
            <a:ext cx="2494859" cy="2656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After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97C31-B508-4168-8D2A-04ADB46C0A03}"/>
              </a:ext>
            </a:extLst>
          </p:cNvPr>
          <p:cNvSpPr txBox="1"/>
          <p:nvPr/>
        </p:nvSpPr>
        <p:spPr>
          <a:xfrm>
            <a:off x="8205525" y="1907672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Container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FDD21E3-192E-41DD-9FCA-51642667F55E}"/>
              </a:ext>
            </a:extLst>
          </p:cNvPr>
          <p:cNvCxnSpPr>
            <a:cxnSpLocks/>
          </p:cNvCxnSpPr>
          <p:nvPr/>
        </p:nvCxnSpPr>
        <p:spPr>
          <a:xfrm>
            <a:off x="3584223" y="3277744"/>
            <a:ext cx="47186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2702BE-253E-4C0A-9CC1-B4195EA6503C}"/>
              </a:ext>
            </a:extLst>
          </p:cNvPr>
          <p:cNvSpPr txBox="1"/>
          <p:nvPr/>
        </p:nvSpPr>
        <p:spPr>
          <a:xfrm>
            <a:off x="4373634" y="2898760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Method </a:t>
            </a:r>
            <a:r>
              <a:rPr lang="ko-KR" altLang="en-US" dirty="0"/>
              <a:t>호출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BD64E00-D020-4E48-A399-E422658A0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77554" y="2277004"/>
            <a:ext cx="2716236" cy="224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4E3B6E-5489-4819-AA77-FC13ACD6F637}"/>
              </a:ext>
            </a:extLst>
          </p:cNvPr>
          <p:cNvSpPr txBox="1"/>
          <p:nvPr/>
        </p:nvSpPr>
        <p:spPr>
          <a:xfrm>
            <a:off x="405441" y="5399426"/>
            <a:ext cx="10067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aop:aspect</a:t>
            </a:r>
            <a:r>
              <a:rPr lang="en-US" altLang="ko-KR" dirty="0"/>
              <a:t> ref=“log”&gt;</a:t>
            </a:r>
          </a:p>
          <a:p>
            <a:r>
              <a:rPr lang="en-US" altLang="ko-KR" dirty="0"/>
              <a:t>	&lt;</a:t>
            </a:r>
            <a:r>
              <a:rPr lang="en-US" altLang="ko-KR" dirty="0" err="1"/>
              <a:t>aop:</a:t>
            </a:r>
            <a:r>
              <a:rPr lang="en-US" altLang="ko-KR" b="1" dirty="0" err="1">
                <a:solidFill>
                  <a:schemeClr val="accent5"/>
                </a:solidFill>
              </a:rPr>
              <a:t>after</a:t>
            </a:r>
            <a:r>
              <a:rPr lang="en-US" altLang="ko-KR" dirty="0"/>
              <a:t> pointcut-ref=“</a:t>
            </a:r>
            <a:r>
              <a:rPr lang="en-US" altLang="ko-KR" dirty="0" err="1"/>
              <a:t>allPointcut</a:t>
            </a:r>
            <a:r>
              <a:rPr lang="en-US" altLang="ko-KR" dirty="0"/>
              <a:t>” method=“</a:t>
            </a:r>
            <a:r>
              <a:rPr lang="en-US" altLang="ko-KR" dirty="0" err="1"/>
              <a:t>printLog</a:t>
            </a:r>
            <a:r>
              <a:rPr lang="en-US" altLang="ko-KR" dirty="0"/>
              <a:t>”/&gt;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aop:aspect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80D36-C9FD-489C-8A65-C9AE7A6FA868}"/>
              </a:ext>
            </a:extLst>
          </p:cNvPr>
          <p:cNvSpPr txBox="1"/>
          <p:nvPr/>
        </p:nvSpPr>
        <p:spPr>
          <a:xfrm>
            <a:off x="405441" y="4847632"/>
            <a:ext cx="2686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5"/>
                </a:solidFill>
              </a:rPr>
              <a:t>applicationContext.xml: </a:t>
            </a:r>
            <a:endParaRPr lang="ko-KR" alt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9092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9E2B4-A661-4190-A83C-4B231F7D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AfterLogAdvice.java</a:t>
            </a:r>
            <a:r>
              <a:rPr lang="ko-KR" altLang="en-US" dirty="0"/>
              <a:t> 추가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82C9221-D7E3-48A6-B02B-EBF4D141E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1674740"/>
            <a:ext cx="10257451" cy="2352315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CBC5E80-3B4C-4D38-9C92-C2D4988FE971}"/>
              </a:ext>
            </a:extLst>
          </p:cNvPr>
          <p:cNvSpPr txBox="1">
            <a:spLocks/>
          </p:cNvSpPr>
          <p:nvPr/>
        </p:nvSpPr>
        <p:spPr>
          <a:xfrm>
            <a:off x="547396" y="992038"/>
            <a:ext cx="11097208" cy="5729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kr.ac.inje.comsi.common</a:t>
            </a:r>
            <a:r>
              <a:rPr lang="en-US" altLang="ko-KR" dirty="0"/>
              <a:t> </a:t>
            </a:r>
            <a:r>
              <a:rPr lang="ko-KR" altLang="en-US" dirty="0"/>
              <a:t>패키지에 </a:t>
            </a:r>
            <a:r>
              <a:rPr lang="en-US" altLang="ko-KR" dirty="0" err="1"/>
              <a:t>AfterLogAdvice</a:t>
            </a:r>
            <a:r>
              <a:rPr lang="en-US" altLang="ko-KR" dirty="0"/>
              <a:t> </a:t>
            </a:r>
            <a:r>
              <a:rPr lang="ko-KR" altLang="en-US" dirty="0"/>
              <a:t>클래스 추가</a:t>
            </a:r>
          </a:p>
        </p:txBody>
      </p:sp>
    </p:spTree>
    <p:extLst>
      <p:ext uri="{BB962C8B-B14F-4D97-AF65-F5344CB8AC3E}">
        <p14:creationId xmlns:p14="http://schemas.microsoft.com/office/powerpoint/2010/main" val="2206643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E20F7-D618-4A5C-B10D-2F694566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applicationContext.xml</a:t>
            </a:r>
            <a:r>
              <a:rPr lang="ko-KR" altLang="en-US" dirty="0"/>
              <a:t> 파일 수정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B6F3871-AC98-4817-90E0-D8A805DA8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1019680"/>
            <a:ext cx="10944225" cy="5286375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9BCFF68-27CF-4D7A-911F-0AF4FA347562}"/>
              </a:ext>
            </a:extLst>
          </p:cNvPr>
          <p:cNvSpPr/>
          <p:nvPr/>
        </p:nvSpPr>
        <p:spPr>
          <a:xfrm>
            <a:off x="1043709" y="3676073"/>
            <a:ext cx="6160655" cy="21243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031C35A-045D-4EEE-A443-ECF8FDE31E05}"/>
              </a:ext>
            </a:extLst>
          </p:cNvPr>
          <p:cNvSpPr/>
          <p:nvPr/>
        </p:nvSpPr>
        <p:spPr>
          <a:xfrm>
            <a:off x="1043709" y="5227781"/>
            <a:ext cx="6160655" cy="55418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DA03A87-3BC9-4170-9CF0-BBEA7C572D9A}"/>
              </a:ext>
            </a:extLst>
          </p:cNvPr>
          <p:cNvCxnSpPr/>
          <p:nvPr/>
        </p:nvCxnSpPr>
        <p:spPr>
          <a:xfrm>
            <a:off x="7204364" y="3775292"/>
            <a:ext cx="11360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E1B823-C7A1-4E2D-BAA9-8243750F4CEE}"/>
              </a:ext>
            </a:extLst>
          </p:cNvPr>
          <p:cNvSpPr txBox="1"/>
          <p:nvPr/>
        </p:nvSpPr>
        <p:spPr>
          <a:xfrm>
            <a:off x="8340437" y="3590626"/>
            <a:ext cx="71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CCDAB7D-6965-4253-9A26-60E0F2459C0D}"/>
              </a:ext>
            </a:extLst>
          </p:cNvPr>
          <p:cNvCxnSpPr/>
          <p:nvPr/>
        </p:nvCxnSpPr>
        <p:spPr>
          <a:xfrm>
            <a:off x="7192677" y="5412447"/>
            <a:ext cx="11360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74CC52E-F7A7-4CF7-8EBC-81FFFEB8170A}"/>
              </a:ext>
            </a:extLst>
          </p:cNvPr>
          <p:cNvSpPr txBox="1"/>
          <p:nvPr/>
        </p:nvSpPr>
        <p:spPr>
          <a:xfrm>
            <a:off x="8328750" y="5227781"/>
            <a:ext cx="71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3946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1A8C4-9C16-4AAB-96CD-CAA48EFA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088931-EF2E-406F-A45D-351536F9A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96" y="992038"/>
            <a:ext cx="11201400" cy="4314825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D273B62-1E9B-435A-9603-63B25D522962}"/>
              </a:ext>
            </a:extLst>
          </p:cNvPr>
          <p:cNvSpPr txBox="1">
            <a:spLocks/>
          </p:cNvSpPr>
          <p:nvPr/>
        </p:nvSpPr>
        <p:spPr>
          <a:xfrm>
            <a:off x="547396" y="5413075"/>
            <a:ext cx="11097208" cy="130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AfterLogAdvice</a:t>
            </a:r>
            <a:r>
              <a:rPr lang="en-US" altLang="ko-KR" dirty="0"/>
              <a:t> </a:t>
            </a:r>
            <a:r>
              <a:rPr lang="ko-KR" altLang="en-US" dirty="0"/>
              <a:t>클래스의 </a:t>
            </a:r>
            <a:r>
              <a:rPr lang="en-US" altLang="ko-KR" dirty="0" err="1"/>
              <a:t>printFinallyLog</a:t>
            </a:r>
            <a:r>
              <a:rPr lang="en-US" altLang="ko-KR" dirty="0"/>
              <a:t> ()</a:t>
            </a:r>
            <a:r>
              <a:rPr lang="ko-KR" altLang="en-US" dirty="0"/>
              <a:t> 메소드가 </a:t>
            </a:r>
            <a:r>
              <a:rPr lang="en-US" altLang="ko-KR" dirty="0"/>
              <a:t>After </a:t>
            </a:r>
            <a:r>
              <a:rPr lang="ko-KR" altLang="en-US" dirty="0" err="1"/>
              <a:t>어드바이스</a:t>
            </a:r>
            <a:r>
              <a:rPr lang="ko-KR" altLang="en-US" dirty="0"/>
              <a:t> 형태로 동작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예외 발생후 </a:t>
            </a:r>
            <a:r>
              <a:rPr lang="en-US" altLang="ko-KR" dirty="0" err="1"/>
              <a:t>printFinallyLog</a:t>
            </a:r>
            <a:r>
              <a:rPr lang="en-US" altLang="ko-KR" dirty="0"/>
              <a:t>() </a:t>
            </a:r>
            <a:r>
              <a:rPr lang="ko-KR" altLang="en-US" dirty="0"/>
              <a:t>메소드가 실행</a:t>
            </a:r>
          </a:p>
        </p:txBody>
      </p:sp>
    </p:spTree>
    <p:extLst>
      <p:ext uri="{BB962C8B-B14F-4D97-AF65-F5344CB8AC3E}">
        <p14:creationId xmlns:p14="http://schemas.microsoft.com/office/powerpoint/2010/main" val="15146209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7FBF2-325F-466E-AC5F-B4B3C787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Around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D7CFB8-E9AE-405F-93ED-E042D2585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396" y="885826"/>
            <a:ext cx="11097208" cy="5835649"/>
          </a:xfrm>
        </p:spPr>
        <p:txBody>
          <a:bodyPr/>
          <a:lstStyle/>
          <a:p>
            <a:r>
              <a:rPr lang="en-US" altLang="ko-KR" b="1" dirty="0">
                <a:solidFill>
                  <a:schemeClr val="accent5"/>
                </a:solidFill>
              </a:rPr>
              <a:t>Around </a:t>
            </a:r>
            <a:r>
              <a:rPr lang="ko-KR" altLang="en-US" b="1" dirty="0" err="1">
                <a:solidFill>
                  <a:schemeClr val="accent5"/>
                </a:solidFill>
              </a:rPr>
              <a:t>어드바이스는</a:t>
            </a:r>
            <a:r>
              <a:rPr lang="ko-KR" altLang="en-US" b="1" dirty="0">
                <a:solidFill>
                  <a:schemeClr val="accent5"/>
                </a:solidFill>
              </a:rPr>
              <a:t> 클라이언트의 메소드 호출을 가로 챈다</a:t>
            </a:r>
            <a:r>
              <a:rPr lang="en-US" altLang="ko-KR" b="1" dirty="0">
                <a:solidFill>
                  <a:schemeClr val="accent5"/>
                </a:solidFill>
              </a:rPr>
              <a:t>.</a:t>
            </a:r>
            <a:endParaRPr lang="ko-KR" altLang="en-US" b="1" dirty="0">
              <a:solidFill>
                <a:schemeClr val="accent5"/>
              </a:solidFill>
            </a:endParaRPr>
          </a:p>
          <a:p>
            <a:r>
              <a:rPr lang="ko-KR" altLang="en-US" dirty="0"/>
              <a:t>어떤 상황에서는 하나의 </a:t>
            </a:r>
            <a:r>
              <a:rPr lang="ko-KR" altLang="en-US" dirty="0" err="1"/>
              <a:t>어드바이스가</a:t>
            </a:r>
            <a:r>
              <a:rPr lang="ko-KR" altLang="en-US" dirty="0"/>
              <a:t> 비즈니스 메소드 실행 전과 후에 모두 동작하여 로직을 처리하는 경우 있을 때 사용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ED33AA-BE9E-41F9-985F-58DB019BD653}"/>
              </a:ext>
            </a:extLst>
          </p:cNvPr>
          <p:cNvSpPr/>
          <p:nvPr/>
        </p:nvSpPr>
        <p:spPr>
          <a:xfrm>
            <a:off x="6317342" y="2831548"/>
            <a:ext cx="4577820" cy="298971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A8E8EF-392D-4E4C-926B-5E4CCFFF0D85}"/>
              </a:ext>
            </a:extLst>
          </p:cNvPr>
          <p:cNvSpPr/>
          <p:nvPr/>
        </p:nvSpPr>
        <p:spPr>
          <a:xfrm>
            <a:off x="6694099" y="3168467"/>
            <a:ext cx="1751068" cy="2393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around(</a:t>
            </a:r>
            <a:r>
              <a:rPr lang="en-US" altLang="ko-KR" sz="1200" dirty="0" err="1">
                <a:solidFill>
                  <a:schemeClr val="bg1"/>
                </a:solidFill>
                <a:latin typeface="+mn-ea"/>
              </a:rPr>
              <a:t>ProceedingJoinPoint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+mn-ea"/>
              </a:rPr>
              <a:t>pjp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){</a:t>
            </a:r>
          </a:p>
          <a:p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 </a:t>
            </a:r>
          </a:p>
          <a:p>
            <a:r>
              <a:rPr lang="en-US" altLang="ko-KR" sz="1200" dirty="0" err="1">
                <a:solidFill>
                  <a:schemeClr val="bg1"/>
                </a:solidFill>
                <a:latin typeface="+mn-ea"/>
              </a:rPr>
              <a:t>pjp.proceed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();</a:t>
            </a:r>
          </a:p>
          <a:p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97C31-B508-4168-8D2A-04ADB46C0A03}"/>
              </a:ext>
            </a:extLst>
          </p:cNvPr>
          <p:cNvSpPr txBox="1"/>
          <p:nvPr/>
        </p:nvSpPr>
        <p:spPr>
          <a:xfrm>
            <a:off x="8205525" y="2406433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Container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FDD21E3-192E-41DD-9FCA-51642667F55E}"/>
              </a:ext>
            </a:extLst>
          </p:cNvPr>
          <p:cNvCxnSpPr>
            <a:cxnSpLocks/>
          </p:cNvCxnSpPr>
          <p:nvPr/>
        </p:nvCxnSpPr>
        <p:spPr>
          <a:xfrm>
            <a:off x="2876857" y="3319305"/>
            <a:ext cx="381724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2702BE-253E-4C0A-9CC1-B4195EA6503C}"/>
              </a:ext>
            </a:extLst>
          </p:cNvPr>
          <p:cNvSpPr txBox="1"/>
          <p:nvPr/>
        </p:nvSpPr>
        <p:spPr>
          <a:xfrm>
            <a:off x="3666268" y="2940321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Method </a:t>
            </a:r>
            <a:r>
              <a:rPr lang="ko-KR" altLang="en-US" dirty="0"/>
              <a:t>호출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BD64E00-D020-4E48-A399-E422658A0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7278" y="2775765"/>
            <a:ext cx="2716236" cy="224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4E3B6E-5489-4819-AA77-FC13ACD6F637}"/>
              </a:ext>
            </a:extLst>
          </p:cNvPr>
          <p:cNvSpPr txBox="1"/>
          <p:nvPr/>
        </p:nvSpPr>
        <p:spPr>
          <a:xfrm>
            <a:off x="405441" y="5898187"/>
            <a:ext cx="10067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aop:aspect</a:t>
            </a:r>
            <a:r>
              <a:rPr lang="en-US" altLang="ko-KR" dirty="0"/>
              <a:t> ref=“log”&gt;</a:t>
            </a:r>
          </a:p>
          <a:p>
            <a:r>
              <a:rPr lang="en-US" altLang="ko-KR" dirty="0"/>
              <a:t>	&lt;</a:t>
            </a:r>
            <a:r>
              <a:rPr lang="en-US" altLang="ko-KR" dirty="0" err="1"/>
              <a:t>aop:</a:t>
            </a:r>
            <a:r>
              <a:rPr lang="en-US" altLang="ko-KR" b="1" dirty="0" err="1">
                <a:solidFill>
                  <a:schemeClr val="accent5"/>
                </a:solidFill>
              </a:rPr>
              <a:t>around</a:t>
            </a:r>
            <a:r>
              <a:rPr lang="en-US" altLang="ko-KR" dirty="0"/>
              <a:t> pointcut-ref=“</a:t>
            </a:r>
            <a:r>
              <a:rPr lang="en-US" altLang="ko-KR" dirty="0" err="1"/>
              <a:t>allPointcut</a:t>
            </a:r>
            <a:r>
              <a:rPr lang="en-US" altLang="ko-KR" dirty="0"/>
              <a:t>” method=“</a:t>
            </a:r>
            <a:r>
              <a:rPr lang="en-US" altLang="ko-KR" dirty="0" err="1"/>
              <a:t>printLog</a:t>
            </a:r>
            <a:r>
              <a:rPr lang="en-US" altLang="ko-KR" dirty="0"/>
              <a:t>”/&gt;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aop:aspect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80D36-C9FD-489C-8A65-C9AE7A6FA868}"/>
              </a:ext>
            </a:extLst>
          </p:cNvPr>
          <p:cNvSpPr txBox="1"/>
          <p:nvPr/>
        </p:nvSpPr>
        <p:spPr>
          <a:xfrm>
            <a:off x="405441" y="5346393"/>
            <a:ext cx="2686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5"/>
                </a:solidFill>
              </a:rPr>
              <a:t>applicationContext.xml: 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6238D6-F5AB-477E-8EDC-7D0E6DCC46B8}"/>
              </a:ext>
            </a:extLst>
          </p:cNvPr>
          <p:cNvSpPr/>
          <p:nvPr/>
        </p:nvSpPr>
        <p:spPr>
          <a:xfrm>
            <a:off x="8821924" y="3168468"/>
            <a:ext cx="1751068" cy="233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/>
                </a:solidFill>
                <a:latin typeface="+mn-ea"/>
              </a:rPr>
              <a:t>insertBoard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(){</a:t>
            </a:r>
          </a:p>
          <a:p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   비즈니스 로직 수행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27370D-DD78-4F7A-ADC5-450E1C17AC61}"/>
              </a:ext>
            </a:extLst>
          </p:cNvPr>
          <p:cNvSpPr txBox="1"/>
          <p:nvPr/>
        </p:nvSpPr>
        <p:spPr>
          <a:xfrm>
            <a:off x="6821592" y="2850891"/>
            <a:ext cx="1328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AroundAdvice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2B9257-9105-4B80-8307-90B78358AEE2}"/>
              </a:ext>
            </a:extLst>
          </p:cNvPr>
          <p:cNvSpPr txBox="1"/>
          <p:nvPr/>
        </p:nvSpPr>
        <p:spPr>
          <a:xfrm>
            <a:off x="9141547" y="2826060"/>
            <a:ext cx="1259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ServiceImpl</a:t>
            </a:r>
            <a:endParaRPr lang="ko-KR" altLang="en-US" sz="16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4C96FC-C0C5-4E35-BD80-CA5AA91CF913}"/>
              </a:ext>
            </a:extLst>
          </p:cNvPr>
          <p:cNvSpPr/>
          <p:nvPr/>
        </p:nvSpPr>
        <p:spPr>
          <a:xfrm>
            <a:off x="6962998" y="4034690"/>
            <a:ext cx="1186843" cy="2656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F24BDB-812B-455D-9ECF-0AB9FBB81632}"/>
              </a:ext>
            </a:extLst>
          </p:cNvPr>
          <p:cNvSpPr/>
          <p:nvPr/>
        </p:nvSpPr>
        <p:spPr>
          <a:xfrm>
            <a:off x="6962997" y="4734176"/>
            <a:ext cx="1186843" cy="2656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After</a:t>
            </a:r>
            <a:endParaRPr lang="ko-KR" altLang="en-US" sz="1400" dirty="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2C277406-A32C-4B4D-8F85-B5138D575956}"/>
              </a:ext>
            </a:extLst>
          </p:cNvPr>
          <p:cNvCxnSpPr>
            <a:cxnSpLocks/>
          </p:cNvCxnSpPr>
          <p:nvPr/>
        </p:nvCxnSpPr>
        <p:spPr>
          <a:xfrm flipV="1">
            <a:off x="7824158" y="3928477"/>
            <a:ext cx="1107884" cy="529809"/>
          </a:xfrm>
          <a:prstGeom prst="curvedConnector3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4268FBCB-F08E-4401-A8D5-A632BA867392}"/>
              </a:ext>
            </a:extLst>
          </p:cNvPr>
          <p:cNvCxnSpPr>
            <a:cxnSpLocks/>
          </p:cNvCxnSpPr>
          <p:nvPr/>
        </p:nvCxnSpPr>
        <p:spPr>
          <a:xfrm rot="10800000">
            <a:off x="7824160" y="4564501"/>
            <a:ext cx="997764" cy="258363"/>
          </a:xfrm>
          <a:prstGeom prst="curvedConnector3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5578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91C0CB3-ADAF-4E00-A0D6-58D71418C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5323" y="1402124"/>
            <a:ext cx="9497945" cy="354856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5368207D-AD71-4D6D-8BFC-81CAF864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396" y="200026"/>
            <a:ext cx="11097208" cy="685800"/>
          </a:xfrm>
        </p:spPr>
        <p:txBody>
          <a:bodyPr/>
          <a:lstStyle/>
          <a:p>
            <a:r>
              <a:rPr lang="en-US" altLang="ko-KR" dirty="0"/>
              <a:t>AroundAdvice.java</a:t>
            </a:r>
            <a:r>
              <a:rPr lang="ko-KR" altLang="en-US" dirty="0"/>
              <a:t> 추가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C3D8C83-FBA7-41DB-8B11-55AB9354A28E}"/>
              </a:ext>
            </a:extLst>
          </p:cNvPr>
          <p:cNvSpPr txBox="1">
            <a:spLocks/>
          </p:cNvSpPr>
          <p:nvPr/>
        </p:nvSpPr>
        <p:spPr>
          <a:xfrm>
            <a:off x="547396" y="992038"/>
            <a:ext cx="11097208" cy="586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kr.ac.inje.comsi.common</a:t>
            </a:r>
            <a:r>
              <a:rPr lang="en-US" altLang="ko-KR" dirty="0"/>
              <a:t> </a:t>
            </a:r>
            <a:r>
              <a:rPr lang="ko-KR" altLang="en-US" dirty="0"/>
              <a:t>패키지에 </a:t>
            </a:r>
            <a:r>
              <a:rPr lang="en-US" altLang="ko-KR" dirty="0" err="1"/>
              <a:t>AroundAdvice</a:t>
            </a:r>
            <a:r>
              <a:rPr lang="en-US" altLang="ko-KR" dirty="0"/>
              <a:t> </a:t>
            </a:r>
            <a:r>
              <a:rPr lang="ko-KR" altLang="en-US" dirty="0"/>
              <a:t>클래스 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클라이언트의 요청을 가로챈 </a:t>
            </a:r>
            <a:r>
              <a:rPr lang="ko-KR" altLang="en-US" dirty="0" err="1"/>
              <a:t>어드바이스는</a:t>
            </a:r>
            <a:r>
              <a:rPr lang="ko-KR" altLang="en-US" dirty="0"/>
              <a:t> 클라이언트가 호출한 비즈니스 메소드를 호출하기 위해서 </a:t>
            </a:r>
            <a:r>
              <a:rPr lang="en-US" altLang="ko-KR" dirty="0" err="1"/>
              <a:t>ProceedingJoinPoint</a:t>
            </a:r>
            <a:r>
              <a:rPr lang="en-US" altLang="ko-KR" dirty="0"/>
              <a:t> </a:t>
            </a:r>
            <a:r>
              <a:rPr lang="ko-KR" altLang="en-US" dirty="0"/>
              <a:t>객체를 매개 변수로 받음</a:t>
            </a:r>
            <a:endParaRPr lang="en-US" altLang="ko-KR" dirty="0"/>
          </a:p>
          <a:p>
            <a:r>
              <a:rPr lang="en-US" altLang="ko-KR" dirty="0" err="1"/>
              <a:t>ProceedingJoinPoint</a:t>
            </a:r>
            <a:r>
              <a:rPr lang="en-US" altLang="ko-KR" dirty="0"/>
              <a:t> </a:t>
            </a:r>
            <a:r>
              <a:rPr lang="ko-KR" altLang="en-US" dirty="0"/>
              <a:t>객체의 </a:t>
            </a:r>
            <a:r>
              <a:rPr lang="en-US" altLang="ko-KR" dirty="0"/>
              <a:t>proceed() </a:t>
            </a:r>
            <a:r>
              <a:rPr lang="ko-KR" altLang="en-US" dirty="0"/>
              <a:t>메소드를 통해서 비즈니스 메소드를 호출함</a:t>
            </a:r>
          </a:p>
        </p:txBody>
      </p:sp>
    </p:spTree>
    <p:extLst>
      <p:ext uri="{BB962C8B-B14F-4D97-AF65-F5344CB8AC3E}">
        <p14:creationId xmlns:p14="http://schemas.microsoft.com/office/powerpoint/2010/main" val="20531212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AB886-E8A1-4D65-9484-E7CC5E635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BoardServiceImpl.java </a:t>
            </a:r>
            <a:r>
              <a:rPr lang="ko-KR" altLang="en-US" dirty="0"/>
              <a:t>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390BB61-1ED7-44CD-83BC-8DFC6B533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885826"/>
            <a:ext cx="9664653" cy="423797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0EBD44E-0696-4468-82D8-DB14C504EBA9}"/>
              </a:ext>
            </a:extLst>
          </p:cNvPr>
          <p:cNvSpPr/>
          <p:nvPr/>
        </p:nvSpPr>
        <p:spPr>
          <a:xfrm>
            <a:off x="932873" y="3396602"/>
            <a:ext cx="8312727" cy="23090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04D623F-17E5-4419-9865-A71A17BA40FC}"/>
              </a:ext>
            </a:extLst>
          </p:cNvPr>
          <p:cNvCxnSpPr/>
          <p:nvPr/>
        </p:nvCxnSpPr>
        <p:spPr>
          <a:xfrm>
            <a:off x="9208655" y="3498202"/>
            <a:ext cx="11360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31A907-80D1-47DC-9790-BAAF10C60A18}"/>
              </a:ext>
            </a:extLst>
          </p:cNvPr>
          <p:cNvSpPr txBox="1"/>
          <p:nvPr/>
        </p:nvSpPr>
        <p:spPr>
          <a:xfrm>
            <a:off x="10344728" y="3313536"/>
            <a:ext cx="71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제거</a:t>
            </a:r>
          </a:p>
        </p:txBody>
      </p:sp>
    </p:spTree>
    <p:extLst>
      <p:ext uri="{BB962C8B-B14F-4D97-AF65-F5344CB8AC3E}">
        <p14:creationId xmlns:p14="http://schemas.microsoft.com/office/powerpoint/2010/main" val="40386599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B6E7C-EBE5-4EF4-8C6F-A0478E53B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applicationContext.xml</a:t>
            </a:r>
            <a:r>
              <a:rPr lang="ko-KR" altLang="en-US" dirty="0"/>
              <a:t> 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ACC34EE-F60E-430F-BD92-40B068DF5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96" y="1125972"/>
            <a:ext cx="10363200" cy="452437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3CB5C85-8485-4FC2-8846-C718D2D86784}"/>
              </a:ext>
            </a:extLst>
          </p:cNvPr>
          <p:cNvSpPr/>
          <p:nvPr/>
        </p:nvSpPr>
        <p:spPr>
          <a:xfrm>
            <a:off x="877455" y="3796144"/>
            <a:ext cx="8312727" cy="21243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1CD8BF4-C171-408A-B0E3-6F73EAF7398C}"/>
              </a:ext>
            </a:extLst>
          </p:cNvPr>
          <p:cNvCxnSpPr>
            <a:cxnSpLocks/>
          </p:cNvCxnSpPr>
          <p:nvPr/>
        </p:nvCxnSpPr>
        <p:spPr>
          <a:xfrm>
            <a:off x="9153237" y="3886129"/>
            <a:ext cx="11360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589384C-3C52-4A9A-A136-DE6678016A05}"/>
              </a:ext>
            </a:extLst>
          </p:cNvPr>
          <p:cNvSpPr txBox="1"/>
          <p:nvPr/>
        </p:nvSpPr>
        <p:spPr>
          <a:xfrm>
            <a:off x="10289310" y="3701463"/>
            <a:ext cx="190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 </a:t>
            </a:r>
            <a:r>
              <a:rPr lang="en-US" altLang="ko-KR" dirty="0"/>
              <a:t>Bean</a:t>
            </a:r>
            <a:r>
              <a:rPr lang="ko-KR" altLang="en-US" dirty="0"/>
              <a:t>변경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03FE45-CBAD-4A36-9C61-075F7B1EB43A}"/>
              </a:ext>
            </a:extLst>
          </p:cNvPr>
          <p:cNvSpPr/>
          <p:nvPr/>
        </p:nvSpPr>
        <p:spPr>
          <a:xfrm>
            <a:off x="877455" y="4510806"/>
            <a:ext cx="8312727" cy="52301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9090A32-D647-46DB-9E4E-9F2DDE91D723}"/>
              </a:ext>
            </a:extLst>
          </p:cNvPr>
          <p:cNvCxnSpPr>
            <a:cxnSpLocks/>
          </p:cNvCxnSpPr>
          <p:nvPr/>
        </p:nvCxnSpPr>
        <p:spPr>
          <a:xfrm>
            <a:off x="9153237" y="4823626"/>
            <a:ext cx="7296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019D85-B7EF-42BC-BA40-17CA68CD097E}"/>
              </a:ext>
            </a:extLst>
          </p:cNvPr>
          <p:cNvSpPr txBox="1"/>
          <p:nvPr/>
        </p:nvSpPr>
        <p:spPr>
          <a:xfrm>
            <a:off x="10002982" y="4638960"/>
            <a:ext cx="218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ref</a:t>
            </a:r>
            <a:r>
              <a:rPr lang="ko-KR" altLang="en-US" dirty="0"/>
              <a:t>와 </a:t>
            </a:r>
            <a:r>
              <a:rPr lang="en-US" altLang="ko-KR" dirty="0"/>
              <a:t>method </a:t>
            </a:r>
            <a:r>
              <a:rPr lang="ko-KR" altLang="en-US" dirty="0"/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27605255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43719-1B8B-422A-9C8E-083A5BDB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Around</a:t>
            </a:r>
            <a:r>
              <a:rPr lang="ko-KR" altLang="en-US" dirty="0"/>
              <a:t> </a:t>
            </a:r>
            <a:r>
              <a:rPr lang="ko-KR" altLang="en-US" dirty="0" err="1"/>
              <a:t>어드바이스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CA88FDA-4BFD-446B-B534-26843B6917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979" y="885826"/>
            <a:ext cx="11096625" cy="4652515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7B44D97-AE1E-40B0-BAF5-028396570E84}"/>
              </a:ext>
            </a:extLst>
          </p:cNvPr>
          <p:cNvSpPr txBox="1">
            <a:spLocks/>
          </p:cNvSpPr>
          <p:nvPr/>
        </p:nvSpPr>
        <p:spPr>
          <a:xfrm>
            <a:off x="547396" y="5538341"/>
            <a:ext cx="11097208" cy="1183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AroundLogAdvice</a:t>
            </a:r>
            <a:r>
              <a:rPr lang="en-US" altLang="ko-KR" dirty="0"/>
              <a:t> </a:t>
            </a:r>
            <a:r>
              <a:rPr lang="ko-KR" altLang="en-US" dirty="0"/>
              <a:t>클래스의 </a:t>
            </a:r>
            <a:r>
              <a:rPr lang="en-US" altLang="ko-KR" dirty="0" err="1"/>
              <a:t>aroundLog</a:t>
            </a:r>
            <a:r>
              <a:rPr lang="en-US" altLang="ko-KR" dirty="0"/>
              <a:t> ()</a:t>
            </a:r>
            <a:r>
              <a:rPr lang="ko-KR" altLang="en-US" dirty="0"/>
              <a:t> 메소드가 동작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비즈니스 로직 호출 전후에 메시지 출력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A7ED78A-FDFC-4260-A629-9AB3994D72DA}"/>
              </a:ext>
            </a:extLst>
          </p:cNvPr>
          <p:cNvCxnSpPr>
            <a:cxnSpLocks/>
          </p:cNvCxnSpPr>
          <p:nvPr/>
        </p:nvCxnSpPr>
        <p:spPr>
          <a:xfrm flipH="1">
            <a:off x="4488873" y="3011055"/>
            <a:ext cx="88669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F52BE24-B02E-4ED1-9C15-543C3E95D58F}"/>
              </a:ext>
            </a:extLst>
          </p:cNvPr>
          <p:cNvCxnSpPr>
            <a:cxnSpLocks/>
          </p:cNvCxnSpPr>
          <p:nvPr/>
        </p:nvCxnSpPr>
        <p:spPr>
          <a:xfrm flipH="1">
            <a:off x="4553527" y="3343564"/>
            <a:ext cx="88669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AE9DCB0-9AC8-43FC-9AC9-2A127C35AC63}"/>
              </a:ext>
            </a:extLst>
          </p:cNvPr>
          <p:cNvCxnSpPr>
            <a:cxnSpLocks/>
          </p:cNvCxnSpPr>
          <p:nvPr/>
        </p:nvCxnSpPr>
        <p:spPr>
          <a:xfrm flipH="1">
            <a:off x="4488873" y="3556000"/>
            <a:ext cx="88669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AF649B2-2C1B-45E8-8A75-EA7F7FB939FA}"/>
              </a:ext>
            </a:extLst>
          </p:cNvPr>
          <p:cNvCxnSpPr>
            <a:cxnSpLocks/>
          </p:cNvCxnSpPr>
          <p:nvPr/>
        </p:nvCxnSpPr>
        <p:spPr>
          <a:xfrm flipH="1">
            <a:off x="4488873" y="3842328"/>
            <a:ext cx="88669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492325"/>
      </p:ext>
    </p:extLst>
  </p:cSld>
  <p:clrMapOvr>
    <a:masterClrMapping/>
  </p:clrMapOvr>
</p:sld>
</file>

<file path=ppt/theme/theme1.xml><?xml version="1.0" encoding="utf-8"?>
<a:theme xmlns:a="http://schemas.openxmlformats.org/drawingml/2006/main" name="나의테마템플릿05">
  <a:themeElements>
    <a:clrScheme name="사용자 지정 5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7473"/>
      </a:accent1>
      <a:accent2>
        <a:srgbClr val="FFC952"/>
      </a:accent2>
      <a:accent3>
        <a:srgbClr val="47B8E0"/>
      </a:accent3>
      <a:accent4>
        <a:srgbClr val="34314C"/>
      </a:accent4>
      <a:accent5>
        <a:srgbClr val="56A902"/>
      </a:accent5>
      <a:accent6>
        <a:srgbClr val="004E66"/>
      </a:accent6>
      <a:hlink>
        <a:srgbClr val="F68657"/>
      </a:hlink>
      <a:folHlink>
        <a:srgbClr val="56627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나의테마템플릿05" id="{41D7EC57-18EC-4AB1-BD93-61CC3D3E7FCD}" vid="{5262901C-A1C7-49EF-8D78-7E98A53552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3067</TotalTime>
  <Words>1938</Words>
  <Application>Microsoft Office PowerPoint</Application>
  <PresentationFormat>와이드스크린</PresentationFormat>
  <Paragraphs>389</Paragraphs>
  <Slides>55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2" baseType="lpstr">
      <vt:lpstr>나눔고딕 ExtraBold</vt:lpstr>
      <vt:lpstr>Arial</vt:lpstr>
      <vt:lpstr>나눔바른고딕</vt:lpstr>
      <vt:lpstr>나눔고딕코딩</vt:lpstr>
      <vt:lpstr>맑은 고딕</vt:lpstr>
      <vt:lpstr>Wingdings</vt:lpstr>
      <vt:lpstr>나의테마템플릿05</vt:lpstr>
      <vt:lpstr>   고급 자바 프로그래밍 : STS를 이용한 Spring 프로그래밍</vt:lpstr>
      <vt:lpstr>강의 내용</vt:lpstr>
      <vt:lpstr>AOP(Aspect Oriented Programming)개요</vt:lpstr>
      <vt:lpstr>PowerPoint 프레젠테이션</vt:lpstr>
      <vt:lpstr>OOP(Object-Oriented Programming)</vt:lpstr>
      <vt:lpstr>AOP(Aspect Oriented Programming)</vt:lpstr>
      <vt:lpstr>AOP(Aspect Oriented Programming)</vt:lpstr>
      <vt:lpstr>스프링(Spring)은…</vt:lpstr>
      <vt:lpstr>AOP 구현</vt:lpstr>
      <vt:lpstr>LogAdvice 클래스</vt:lpstr>
      <vt:lpstr>BoardServiceImpl.java 클래스 수정</vt:lpstr>
      <vt:lpstr>PowerPoint 프레젠테이션</vt:lpstr>
      <vt:lpstr>실행</vt:lpstr>
      <vt:lpstr>-DmainClass=kr.ac.inje.comsi.board.BoardServiceClient</vt:lpstr>
      <vt:lpstr>PowerPoint 프레젠테이션</vt:lpstr>
      <vt:lpstr>만약? </vt:lpstr>
      <vt:lpstr>AOP 시작하기</vt:lpstr>
      <vt:lpstr>build.gradle 수정 – AOP 라이브러리(aspectjweaver)</vt:lpstr>
      <vt:lpstr>Refresh gradle projec를 통한 라이브러리 추가</vt:lpstr>
      <vt:lpstr>applicationContext.xml 수정 – aop 네임스페이스 추가</vt:lpstr>
      <vt:lpstr>우선, LogAdvice 클래스를 &lt;bean&gt; 등록하고 AOP 관련 설정을 다음과 같이 추가한다.</vt:lpstr>
      <vt:lpstr>변경된 applicationContext.xml – aop 관련 설정 추가</vt:lpstr>
      <vt:lpstr>실행</vt:lpstr>
      <vt:lpstr>만약 LogAdvice 클래스를 Log4jAdvice로 변경한다면? </vt:lpstr>
      <vt:lpstr>포인트 컷 표현식의 구성과 의미</vt:lpstr>
      <vt:lpstr>① 리턴타입 지정 </vt:lpstr>
      <vt:lpstr>② 패키지 지정</vt:lpstr>
      <vt:lpstr>③ 클래스 지정</vt:lpstr>
      <vt:lpstr>④ 메소드 지정</vt:lpstr>
      <vt:lpstr>⑤ 매개변수 지정</vt:lpstr>
      <vt:lpstr>정리하면,</vt:lpstr>
      <vt:lpstr>관점 지향과 횡단 관심사의 분리</vt:lpstr>
      <vt:lpstr>관점 지향과 횡단 관심사의 분리</vt:lpstr>
      <vt:lpstr>AOP 용어와 개념도</vt:lpstr>
      <vt:lpstr>용어 정리</vt:lpstr>
      <vt:lpstr>AOP(Aspect Oriented Programming) - 용어</vt:lpstr>
      <vt:lpstr>Advice 동작 시점 설정</vt:lpstr>
      <vt:lpstr>Before 어드바이스</vt:lpstr>
      <vt:lpstr>Before 어드바이스</vt:lpstr>
      <vt:lpstr>After Returning 어드바이스</vt:lpstr>
      <vt:lpstr>LogAdvice.java  수정</vt:lpstr>
      <vt:lpstr>After Returning 어드바이스</vt:lpstr>
      <vt:lpstr>After Throwing 어드바이스</vt:lpstr>
      <vt:lpstr>BoardServiceImpl.java 수정</vt:lpstr>
      <vt:lpstr>LogAdvice.java 수정</vt:lpstr>
      <vt:lpstr>After Throwing 어드바이스</vt:lpstr>
      <vt:lpstr>After 어드바이스</vt:lpstr>
      <vt:lpstr>AfterLogAdvice.java 추가</vt:lpstr>
      <vt:lpstr>applicationContext.xml 파일 수정</vt:lpstr>
      <vt:lpstr>After 어드바이스</vt:lpstr>
      <vt:lpstr>Around 어드바이스</vt:lpstr>
      <vt:lpstr>AroundAdvice.java 추가</vt:lpstr>
      <vt:lpstr>BoardServiceImpl.java 수정</vt:lpstr>
      <vt:lpstr>applicationContext.xml 수정</vt:lpstr>
      <vt:lpstr>Around 어드바이스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스프링과 DI(Dependency Injection)</dc:title>
  <dc:creator>박경태</dc:creator>
  <cp:lastModifiedBy>박경태</cp:lastModifiedBy>
  <cp:revision>297</cp:revision>
  <dcterms:created xsi:type="dcterms:W3CDTF">2016-08-26T07:01:24Z</dcterms:created>
  <dcterms:modified xsi:type="dcterms:W3CDTF">2017-09-13T14:14:45Z</dcterms:modified>
</cp:coreProperties>
</file>